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6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sz="1800" strike="noStrike" u="none">
                <a:solidFill>
                  <a:srgbClr val="000000"/>
                </a:solidFill>
                <a:uFillTx/>
                <a:latin typeface="Arial"/>
              </a:rPr>
              <a:t>性能评分对比（满分100）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性能对比</c:v>
                </c:pt>
              </c:strCache>
            </c:strRef>
          </c:tx>
          <c:spPr>
            <a:solidFill>
              <a:srgbClr val="e74c3c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CPU性能</c:v>
                </c:pt>
                <c:pt idx="1">
                  <c:v>GPU性能</c:v>
                </c:pt>
                <c:pt idx="2">
                  <c:v>AI算力</c:v>
                </c:pt>
                <c:pt idx="3">
                  <c:v>能效比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95</c:v>
                </c:pt>
                <c:pt idx="1">
                  <c:v>92</c:v>
                </c:pt>
                <c:pt idx="2">
                  <c:v>98</c:v>
                </c:pt>
                <c:pt idx="3">
                  <c:v>90</c:v>
                </c:pt>
              </c:numCache>
            </c:numRef>
          </c:val>
        </c:ser>
        <c:gapWidth val="150"/>
        <c:overlap val="0"/>
        <c:axId val="4190545"/>
        <c:axId val="55846432"/>
      </c:barChart>
      <c:catAx>
        <c:axId val="4190545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1000" strike="noStrike" u="none">
                    <a:solidFill>
                      <a:srgbClr val="000000"/>
                    </a:solidFill>
                    <a:uFillTx/>
                    <a:latin typeface="Arial"/>
                  </a:rPr>
                  <a:t>性能指标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55846432"/>
        <c:crosses val="autoZero"/>
        <c:auto val="1"/>
        <c:lblAlgn val="ctr"/>
        <c:lblOffset val="100"/>
        <c:noMultiLvlLbl val="0"/>
      </c:catAx>
      <c:valAx>
        <c:axId val="55846432"/>
        <c:scaling>
          <c:orientation val="minMax"/>
          <c:max val="100"/>
          <c:min val="0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1000" strike="noStrike" u="none">
                    <a:solidFill>
                      <a:srgbClr val="000000"/>
                    </a:solidFill>
                    <a:uFillTx/>
                    <a:latin typeface="Arial"/>
                  </a:rPr>
                  <a:t>评分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4190545"/>
        <c:crosses val="autoZero"/>
        <c:crossBetween val="between"/>
        <c:majorUnit val="20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15E8935-44C8-41F2-8F42-BB3194C0F04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D2575D-D612-4C4E-9BE7-03118B4DF5D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193DB1-B7B0-42F4-9CB3-6FBF36EA8CD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D8E970-3AC8-4279-A6BE-17BB2761298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2CF097-A098-4CB2-8511-43E46618426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D52AC5-E4B8-4F49-803E-41B2771E39E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093FCB-9690-4C5D-9CE4-68BBD6C6A79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685800" y="1123920"/>
            <a:ext cx="7772040" cy="11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2001"/>
              </a:spcAft>
              <a:tabLst>
                <a:tab algn="l" pos="0"/>
              </a:tabLst>
            </a:pPr>
            <a:r>
              <a:rPr b="1" lang="zh-CN" sz="6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华为 </a:t>
            </a:r>
            <a:r>
              <a:rPr b="1" lang="en-US" sz="6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Mate 80</a:t>
            </a:r>
            <a:endParaRPr b="0" lang="en-US" sz="6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685800" y="2558880"/>
            <a:ext cx="777204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0"/>
              </a:spcAft>
              <a:tabLst>
                <a:tab algn="l" pos="0"/>
              </a:tabLst>
            </a:pPr>
            <a:r>
              <a:rPr b="1" lang="zh-CN" sz="3200" strike="noStrike" u="none">
                <a:solidFill>
                  <a:srgbClr val="e74c3c"/>
                </a:solidFill>
                <a:effectLst/>
                <a:uFillTx/>
                <a:latin typeface="Arial"/>
                <a:ea typeface="Arial"/>
              </a:rPr>
              <a:t>旗舰新生 </a:t>
            </a:r>
            <a:r>
              <a:rPr b="1" lang="en-US" sz="3200" strike="noStrike" u="none">
                <a:solidFill>
                  <a:srgbClr val="e74c3c"/>
                </a:solidFill>
                <a:effectLst/>
                <a:uFillTx/>
                <a:latin typeface="Arial"/>
                <a:ea typeface="Arial"/>
              </a:rPr>
              <a:t>· </a:t>
            </a:r>
            <a:r>
              <a:rPr b="1" lang="zh-CN" sz="3200" strike="noStrike" u="none">
                <a:solidFill>
                  <a:srgbClr val="e74c3c"/>
                </a:solidFill>
                <a:effectLst/>
                <a:uFillTx/>
                <a:latin typeface="Arial"/>
                <a:ea typeface="Arial"/>
              </a:rPr>
              <a:t>极致体验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685800" y="3647880"/>
            <a:ext cx="777204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zh-CN" sz="2000" strike="noStrike" u="none">
                <a:solidFill>
                  <a:srgbClr val="bdc3c7"/>
                </a:solidFill>
                <a:effectLst/>
                <a:uFillTx/>
                <a:latin typeface="Arial"/>
                <a:ea typeface="Arial"/>
              </a:rPr>
              <a:t>下一代智能手机的突破性创新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0" y="0"/>
            <a:ext cx="9143640" cy="92016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Text 1"/>
          <p:cNvSpPr/>
          <p:nvPr/>
        </p:nvSpPr>
        <p:spPr>
          <a:xfrm>
            <a:off x="507960" y="203040"/>
            <a:ext cx="82904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核心亮点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507960" y="1199880"/>
            <a:ext cx="8127720" cy="979200"/>
          </a:xfrm>
          <a:prstGeom prst="roundRect">
            <a:avLst>
              <a:gd name="adj" fmla="val 5187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Shape 3"/>
          <p:cNvSpPr/>
          <p:nvPr/>
        </p:nvSpPr>
        <p:spPr>
          <a:xfrm>
            <a:off x="545760" y="1199880"/>
            <a:ext cx="360" cy="979200"/>
          </a:xfrm>
          <a:prstGeom prst="line">
            <a:avLst/>
          </a:prstGeom>
          <a:ln w="762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4"/>
          <p:cNvSpPr/>
          <p:nvPr/>
        </p:nvSpPr>
        <p:spPr>
          <a:xfrm>
            <a:off x="901440" y="1377720"/>
            <a:ext cx="75650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zh-CN" sz="1800" strike="noStrike" u="none">
                <a:solidFill>
                  <a:srgbClr val="1c2833"/>
                </a:solidFill>
                <a:effectLst/>
                <a:uFillTx/>
                <a:latin typeface="Arial"/>
                <a:ea typeface="Arial"/>
              </a:rPr>
              <a:t>麒麟 </a:t>
            </a:r>
            <a:r>
              <a:rPr b="1" lang="en-US" sz="1800" strike="noStrike" u="none">
                <a:solidFill>
                  <a:srgbClr val="1c2833"/>
                </a:solidFill>
                <a:effectLst/>
                <a:uFillTx/>
                <a:latin typeface="Arial"/>
                <a:ea typeface="Arial"/>
              </a:rPr>
              <a:t>9100 </a:t>
            </a:r>
            <a:r>
              <a:rPr b="1" lang="zh-CN" sz="1800" strike="noStrike" u="none">
                <a:solidFill>
                  <a:srgbClr val="1c2833"/>
                </a:solidFill>
                <a:effectLst/>
                <a:uFillTx/>
                <a:latin typeface="Arial"/>
                <a:ea typeface="Arial"/>
              </a:rPr>
              <a:t>芯片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5"/>
          <p:cNvSpPr/>
          <p:nvPr/>
        </p:nvSpPr>
        <p:spPr>
          <a:xfrm>
            <a:off x="901440" y="1787400"/>
            <a:ext cx="756504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89"/>
              </a:lnSpc>
              <a:tabLst>
                <a:tab algn="l" pos="0"/>
              </a:tabLst>
            </a:pPr>
            <a:r>
              <a:rPr b="0" lang="zh-CN" sz="1300" strike="noStrike" u="none">
                <a:solidFill>
                  <a:srgbClr val="5d6d7e"/>
                </a:solidFill>
                <a:effectLst/>
                <a:uFillTx/>
                <a:latin typeface="Arial"/>
                <a:ea typeface="Arial"/>
              </a:rPr>
              <a:t>全新自研旗舰芯片，</a:t>
            </a:r>
            <a:r>
              <a:rPr b="0" lang="en-US" sz="1300" strike="noStrike" u="none">
                <a:solidFill>
                  <a:srgbClr val="5d6d7e"/>
                </a:solidFill>
                <a:effectLst/>
                <a:uFillTx/>
                <a:latin typeface="Arial"/>
                <a:ea typeface="Arial"/>
              </a:rPr>
              <a:t>5nm</a:t>
            </a:r>
            <a:r>
              <a:rPr b="0" lang="zh-CN" sz="1300" strike="noStrike" u="none">
                <a:solidFill>
                  <a:srgbClr val="5d6d7e"/>
                </a:solidFill>
                <a:effectLst/>
                <a:uFillTx/>
                <a:latin typeface="Arial"/>
                <a:ea typeface="Arial"/>
              </a:rPr>
              <a:t>工艺，性能提升</a:t>
            </a:r>
            <a:r>
              <a:rPr b="0" lang="en-US" sz="1300" strike="noStrike" u="none">
                <a:solidFill>
                  <a:srgbClr val="5d6d7e"/>
                </a:solidFill>
                <a:effectLst/>
                <a:uFillTx/>
                <a:latin typeface="Arial"/>
                <a:ea typeface="Arial"/>
              </a:rPr>
              <a:t>40%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6"/>
          <p:cNvSpPr/>
          <p:nvPr/>
        </p:nvSpPr>
        <p:spPr>
          <a:xfrm>
            <a:off x="507960" y="2331720"/>
            <a:ext cx="8127720" cy="979200"/>
          </a:xfrm>
          <a:prstGeom prst="roundRect">
            <a:avLst>
              <a:gd name="adj" fmla="val 5187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Shape 7"/>
          <p:cNvSpPr/>
          <p:nvPr/>
        </p:nvSpPr>
        <p:spPr>
          <a:xfrm>
            <a:off x="545760" y="2331720"/>
            <a:ext cx="360" cy="979200"/>
          </a:xfrm>
          <a:prstGeom prst="line">
            <a:avLst/>
          </a:prstGeom>
          <a:ln w="762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8"/>
          <p:cNvSpPr/>
          <p:nvPr/>
        </p:nvSpPr>
        <p:spPr>
          <a:xfrm>
            <a:off x="901440" y="2509560"/>
            <a:ext cx="75650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800" strike="noStrike" u="none">
                <a:solidFill>
                  <a:srgbClr val="1c2833"/>
                </a:solidFill>
                <a:effectLst/>
                <a:uFillTx/>
                <a:latin typeface="Arial"/>
                <a:ea typeface="Arial"/>
              </a:rPr>
              <a:t>6.8</a:t>
            </a:r>
            <a:r>
              <a:rPr b="1" lang="zh-CN" sz="1800" strike="noStrike" u="none">
                <a:solidFill>
                  <a:srgbClr val="1c2833"/>
                </a:solidFill>
                <a:effectLst/>
                <a:uFillTx/>
                <a:latin typeface="Arial"/>
                <a:ea typeface="Arial"/>
              </a:rPr>
              <a:t>英寸</a:t>
            </a:r>
            <a:r>
              <a:rPr b="1" lang="en-US" sz="1800" strike="noStrike" u="none">
                <a:solidFill>
                  <a:srgbClr val="1c2833"/>
                </a:solidFill>
                <a:effectLst/>
                <a:uFillTx/>
                <a:latin typeface="Arial"/>
                <a:ea typeface="Arial"/>
              </a:rPr>
              <a:t>LTPO</a:t>
            </a:r>
            <a:r>
              <a:rPr b="1" lang="zh-CN" sz="1800" strike="noStrike" u="none">
                <a:solidFill>
                  <a:srgbClr val="1c2833"/>
                </a:solidFill>
                <a:effectLst/>
                <a:uFillTx/>
                <a:latin typeface="Arial"/>
                <a:ea typeface="Arial"/>
              </a:rPr>
              <a:t>屏幕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9"/>
          <p:cNvSpPr/>
          <p:nvPr/>
        </p:nvSpPr>
        <p:spPr>
          <a:xfrm>
            <a:off x="901440" y="2919240"/>
            <a:ext cx="756504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89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d7e"/>
                </a:solidFill>
                <a:effectLst/>
                <a:uFillTx/>
                <a:latin typeface="Arial"/>
                <a:ea typeface="Arial"/>
              </a:rPr>
              <a:t>2K</a:t>
            </a:r>
            <a:r>
              <a:rPr b="0" lang="zh-CN" sz="1300" strike="noStrike" u="none">
                <a:solidFill>
                  <a:srgbClr val="5d6d7e"/>
                </a:solidFill>
                <a:effectLst/>
                <a:uFillTx/>
                <a:latin typeface="Arial"/>
                <a:ea typeface="Arial"/>
              </a:rPr>
              <a:t>分辨率，</a:t>
            </a:r>
            <a:r>
              <a:rPr b="0" lang="en-US" sz="1300" strike="noStrike" u="none">
                <a:solidFill>
                  <a:srgbClr val="5d6d7e"/>
                </a:solidFill>
                <a:effectLst/>
                <a:uFillTx/>
                <a:latin typeface="Arial"/>
                <a:ea typeface="Arial"/>
              </a:rPr>
              <a:t>120Hz</a:t>
            </a:r>
            <a:r>
              <a:rPr b="0" lang="zh-CN" sz="1300" strike="noStrike" u="none">
                <a:solidFill>
                  <a:srgbClr val="5d6d7e"/>
                </a:solidFill>
                <a:effectLst/>
                <a:uFillTx/>
                <a:latin typeface="Arial"/>
                <a:ea typeface="Arial"/>
              </a:rPr>
              <a:t>自适应刷新率，护眼显示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0"/>
          <p:cNvSpPr/>
          <p:nvPr/>
        </p:nvSpPr>
        <p:spPr>
          <a:xfrm>
            <a:off x="507960" y="3463560"/>
            <a:ext cx="8127720" cy="979200"/>
          </a:xfrm>
          <a:prstGeom prst="roundRect">
            <a:avLst>
              <a:gd name="adj" fmla="val 5187"/>
            </a:avLst>
          </a:prstGeom>
          <a:solidFill>
            <a:srgbClr val="f8f9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Shape 11"/>
          <p:cNvSpPr/>
          <p:nvPr/>
        </p:nvSpPr>
        <p:spPr>
          <a:xfrm>
            <a:off x="545760" y="3463560"/>
            <a:ext cx="360" cy="979200"/>
          </a:xfrm>
          <a:prstGeom prst="line">
            <a:avLst/>
          </a:prstGeom>
          <a:ln w="762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2"/>
          <p:cNvSpPr/>
          <p:nvPr/>
        </p:nvSpPr>
        <p:spPr>
          <a:xfrm>
            <a:off x="901440" y="3641400"/>
            <a:ext cx="75650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800" strike="noStrike" u="none">
                <a:solidFill>
                  <a:srgbClr val="1c2833"/>
                </a:solidFill>
                <a:effectLst/>
                <a:uFillTx/>
                <a:latin typeface="Arial"/>
                <a:ea typeface="Arial"/>
              </a:rPr>
              <a:t>5500mAh</a:t>
            </a:r>
            <a:r>
              <a:rPr b="1" lang="zh-CN" sz="1800" strike="noStrike" u="none">
                <a:solidFill>
                  <a:srgbClr val="1c2833"/>
                </a:solidFill>
                <a:effectLst/>
                <a:uFillTx/>
                <a:latin typeface="Arial"/>
                <a:ea typeface="Arial"/>
              </a:rPr>
              <a:t>超大电池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3"/>
          <p:cNvSpPr/>
          <p:nvPr/>
        </p:nvSpPr>
        <p:spPr>
          <a:xfrm>
            <a:off x="901440" y="4051080"/>
            <a:ext cx="756504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689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d7e"/>
                </a:solidFill>
                <a:effectLst/>
                <a:uFillTx/>
                <a:latin typeface="Arial"/>
                <a:ea typeface="Arial"/>
              </a:rPr>
              <a:t>100W</a:t>
            </a:r>
            <a:r>
              <a:rPr b="0" lang="zh-CN" sz="1300" strike="noStrike" u="none">
                <a:solidFill>
                  <a:srgbClr val="5d6d7e"/>
                </a:solidFill>
                <a:effectLst/>
                <a:uFillTx/>
                <a:latin typeface="Arial"/>
                <a:ea typeface="Arial"/>
              </a:rPr>
              <a:t>有线 </a:t>
            </a:r>
            <a:r>
              <a:rPr b="0" lang="en-US" sz="1300" strike="noStrike" u="none">
                <a:solidFill>
                  <a:srgbClr val="5d6d7e"/>
                </a:solidFill>
                <a:effectLst/>
                <a:uFillTx/>
                <a:latin typeface="Arial"/>
                <a:ea typeface="Arial"/>
              </a:rPr>
              <a:t>+ 50W</a:t>
            </a:r>
            <a:r>
              <a:rPr b="0" lang="zh-CN" sz="1300" strike="noStrike" u="none">
                <a:solidFill>
                  <a:srgbClr val="5d6d7e"/>
                </a:solidFill>
                <a:effectLst/>
                <a:uFillTx/>
                <a:latin typeface="Arial"/>
                <a:ea typeface="Arial"/>
              </a:rPr>
              <a:t>无线充电，全天续航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0" y="0"/>
            <a:ext cx="9143640" cy="1301400"/>
          </a:xfrm>
          <a:prstGeom prst="rect">
            <a:avLst/>
          </a:prstGeom>
          <a:solidFill>
            <a:srgbClr val="1c28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Text 1"/>
          <p:cNvSpPr/>
          <p:nvPr/>
        </p:nvSpPr>
        <p:spPr>
          <a:xfrm>
            <a:off x="507960" y="317520"/>
            <a:ext cx="829044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36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影像系统突破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"/>
          <p:cNvSpPr/>
          <p:nvPr/>
        </p:nvSpPr>
        <p:spPr>
          <a:xfrm>
            <a:off x="507960" y="1682640"/>
            <a:ext cx="37562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2001"/>
              </a:spcAft>
              <a:tabLst>
                <a:tab algn="l" pos="0"/>
              </a:tabLst>
            </a:pPr>
            <a:r>
              <a:rPr b="1" lang="zh-CN" sz="2800" strike="noStrike" u="none">
                <a:solidFill>
                  <a:srgbClr val="e74c3c"/>
                </a:solidFill>
                <a:effectLst/>
                <a:uFillTx/>
                <a:latin typeface="Arial"/>
                <a:ea typeface="Arial"/>
              </a:rPr>
              <a:t>超感知摄影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507960" y="2450880"/>
            <a:ext cx="368280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080" rIns="0" tIns="0" bIns="0" anchor="t">
            <a:noAutofit/>
          </a:bodyPr>
          <a:p>
            <a:pPr marL="127080" indent="-127080" defTabSz="914400">
              <a:lnSpc>
                <a:spcPts val="2520"/>
              </a:lnSpc>
              <a:spcAft>
                <a:spcPts val="1199"/>
              </a:spcAft>
              <a:buClr>
                <a:srgbClr val="2c3e5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5000</a:t>
            </a:r>
            <a:r>
              <a:rPr b="0" lang="zh-CN" sz="18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万像素主摄，</a:t>
            </a:r>
            <a:r>
              <a:rPr b="0" lang="en-US" sz="18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F1.4</a:t>
            </a:r>
            <a:r>
              <a:rPr b="0" lang="zh-CN" sz="18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大光圈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ts val="2520"/>
              </a:lnSpc>
              <a:spcAft>
                <a:spcPts val="1199"/>
              </a:spcAft>
              <a:buClr>
                <a:srgbClr val="2c3e5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5000</a:t>
            </a:r>
            <a:r>
              <a:rPr b="0" lang="zh-CN" sz="18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万像素超广角镜头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ts val="2520"/>
              </a:lnSpc>
              <a:spcAft>
                <a:spcPts val="1199"/>
              </a:spcAft>
              <a:buClr>
                <a:srgbClr val="2c3e5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6400</a:t>
            </a:r>
            <a:r>
              <a:rPr b="0" lang="zh-CN" sz="18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万像素潜望式长焦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ts val="2520"/>
              </a:lnSpc>
              <a:spcAft>
                <a:spcPts val="1199"/>
              </a:spcAft>
              <a:buClr>
                <a:srgbClr val="2c3e5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10</a:t>
            </a:r>
            <a:r>
              <a:rPr b="0" lang="zh-CN" sz="18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倍光学变焦，</a:t>
            </a:r>
            <a:r>
              <a:rPr b="0" lang="en-US" sz="18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100</a:t>
            </a:r>
            <a:r>
              <a:rPr b="0" lang="zh-CN" sz="18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倍数字变焦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4952880" y="1682640"/>
            <a:ext cx="37562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2001"/>
              </a:spcAft>
              <a:tabLst>
                <a:tab algn="l" pos="0"/>
              </a:tabLst>
            </a:pPr>
            <a:r>
              <a:rPr b="1" lang="en-US" sz="2800" strike="noStrike" u="none">
                <a:solidFill>
                  <a:srgbClr val="e74c3c"/>
                </a:solidFill>
                <a:effectLst/>
                <a:uFillTx/>
                <a:latin typeface="Arial"/>
                <a:ea typeface="Arial"/>
              </a:rPr>
              <a:t>AI</a:t>
            </a:r>
            <a:r>
              <a:rPr b="1" lang="zh-CN" sz="2800" strike="noStrike" u="none">
                <a:solidFill>
                  <a:srgbClr val="e74c3c"/>
                </a:solidFill>
                <a:effectLst/>
                <a:uFillTx/>
                <a:latin typeface="Arial"/>
                <a:ea typeface="Arial"/>
              </a:rPr>
              <a:t>影像引擎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4952880" y="2450880"/>
            <a:ext cx="368280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080" rIns="0" tIns="0" bIns="0" anchor="t">
            <a:noAutofit/>
          </a:bodyPr>
          <a:p>
            <a:pPr marL="127080" indent="-127080" defTabSz="914400">
              <a:lnSpc>
                <a:spcPts val="2520"/>
              </a:lnSpc>
              <a:spcAft>
                <a:spcPts val="1199"/>
              </a:spcAft>
              <a:buClr>
                <a:srgbClr val="2c3e5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XD Fusion Pro</a:t>
            </a:r>
            <a:r>
              <a:rPr b="0" lang="zh-CN" sz="18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图像引擎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ts val="2520"/>
              </a:lnSpc>
              <a:spcAft>
                <a:spcPts val="1199"/>
              </a:spcAft>
              <a:buClr>
                <a:srgbClr val="2c3e50"/>
              </a:buClr>
              <a:buFont typeface="Symbol" charset="2"/>
              <a:buChar char=""/>
            </a:pPr>
            <a:r>
              <a:rPr b="0" lang="zh-CN" sz="18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夜景模式</a:t>
            </a:r>
            <a:r>
              <a:rPr b="0" lang="en-US" sz="18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3.0</a:t>
            </a:r>
            <a:r>
              <a:rPr b="0" lang="zh-CN" sz="18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全面升级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ts val="2520"/>
              </a:lnSpc>
              <a:spcAft>
                <a:spcPts val="1199"/>
              </a:spcAft>
              <a:buClr>
                <a:srgbClr val="2c3e50"/>
              </a:buClr>
              <a:buFont typeface="Symbol" charset="2"/>
              <a:buChar char=""/>
            </a:pPr>
            <a:r>
              <a:rPr b="0" lang="zh-CN" sz="18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运动抓拍，瞬间定格精彩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7080" indent="-127080" defTabSz="914400">
              <a:lnSpc>
                <a:spcPts val="2520"/>
              </a:lnSpc>
              <a:spcAft>
                <a:spcPts val="1199"/>
              </a:spcAft>
              <a:buClr>
                <a:srgbClr val="2c3e50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4K 120fps</a:t>
            </a:r>
            <a:r>
              <a:rPr b="0" lang="zh-CN" sz="18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专业视频拍摄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/>
          <p:cNvSpPr/>
          <p:nvPr/>
        </p:nvSpPr>
        <p:spPr>
          <a:xfrm>
            <a:off x="0" y="0"/>
            <a:ext cx="9143640" cy="89496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Text 1"/>
          <p:cNvSpPr/>
          <p:nvPr/>
        </p:nvSpPr>
        <p:spPr>
          <a:xfrm>
            <a:off x="507960" y="190440"/>
            <a:ext cx="82904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技术规格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"/>
          <p:cNvSpPr/>
          <p:nvPr/>
        </p:nvSpPr>
        <p:spPr>
          <a:xfrm>
            <a:off x="507960" y="1174680"/>
            <a:ext cx="284940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algn="l" pos="0"/>
              </a:tabLst>
            </a:pPr>
            <a:r>
              <a:rPr b="1" lang="zh-CN" sz="2000" strike="noStrike" u="none">
                <a:solidFill>
                  <a:srgbClr val="1c2833"/>
                </a:solidFill>
                <a:effectLst/>
                <a:uFillTx/>
                <a:latin typeface="Arial"/>
                <a:ea typeface="Arial"/>
              </a:rPr>
              <a:t>参数一览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3"/>
          <p:cNvSpPr/>
          <p:nvPr/>
        </p:nvSpPr>
        <p:spPr>
          <a:xfrm>
            <a:off x="507960" y="1724040"/>
            <a:ext cx="2849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zh-CN" sz="1200" strike="noStrike" u="none">
                <a:solidFill>
                  <a:srgbClr val="e74c3c"/>
                </a:solidFill>
                <a:effectLst/>
                <a:uFillTx/>
                <a:latin typeface="Arial"/>
                <a:ea typeface="Arial"/>
              </a:rPr>
              <a:t>处理器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4"/>
          <p:cNvSpPr/>
          <p:nvPr/>
        </p:nvSpPr>
        <p:spPr>
          <a:xfrm>
            <a:off x="507960" y="1977840"/>
            <a:ext cx="28494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3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麒麟 </a:t>
            </a:r>
            <a:r>
              <a:rPr b="0" lang="en-US" sz="13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9100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5"/>
          <p:cNvSpPr/>
          <p:nvPr/>
        </p:nvSpPr>
        <p:spPr>
          <a:xfrm>
            <a:off x="507960" y="2330280"/>
            <a:ext cx="2849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zh-CN" sz="1200" strike="noStrike" u="none">
                <a:solidFill>
                  <a:srgbClr val="e74c3c"/>
                </a:solidFill>
                <a:effectLst/>
                <a:uFillTx/>
                <a:latin typeface="Arial"/>
                <a:ea typeface="Arial"/>
              </a:rPr>
              <a:t>内存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6"/>
          <p:cNvSpPr/>
          <p:nvPr/>
        </p:nvSpPr>
        <p:spPr>
          <a:xfrm>
            <a:off x="507960" y="2584080"/>
            <a:ext cx="28494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12GB / 16GB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7"/>
          <p:cNvSpPr/>
          <p:nvPr/>
        </p:nvSpPr>
        <p:spPr>
          <a:xfrm>
            <a:off x="507960" y="2898360"/>
            <a:ext cx="2849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zh-CN" sz="1200" strike="noStrike" u="none">
                <a:solidFill>
                  <a:srgbClr val="e74c3c"/>
                </a:solidFill>
                <a:effectLst/>
                <a:uFillTx/>
                <a:latin typeface="Arial"/>
                <a:ea typeface="Arial"/>
              </a:rPr>
              <a:t>存储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8"/>
          <p:cNvSpPr/>
          <p:nvPr/>
        </p:nvSpPr>
        <p:spPr>
          <a:xfrm>
            <a:off x="507960" y="3152160"/>
            <a:ext cx="28494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256GB - 1TB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9"/>
          <p:cNvSpPr/>
          <p:nvPr/>
        </p:nvSpPr>
        <p:spPr>
          <a:xfrm>
            <a:off x="507960" y="3466800"/>
            <a:ext cx="2849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zh-CN" sz="1200" strike="noStrike" u="none">
                <a:solidFill>
                  <a:srgbClr val="e74c3c"/>
                </a:solidFill>
                <a:effectLst/>
                <a:uFillTx/>
                <a:latin typeface="Arial"/>
                <a:ea typeface="Arial"/>
              </a:rPr>
              <a:t>屏幕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0"/>
          <p:cNvSpPr/>
          <p:nvPr/>
        </p:nvSpPr>
        <p:spPr>
          <a:xfrm>
            <a:off x="507960" y="3720600"/>
            <a:ext cx="28494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6.8</a:t>
            </a:r>
            <a:r>
              <a:rPr b="0" lang="zh-CN" sz="13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英寸 </a:t>
            </a:r>
            <a:r>
              <a:rPr b="0" lang="en-US" sz="13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LTPO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1"/>
          <p:cNvSpPr/>
          <p:nvPr/>
        </p:nvSpPr>
        <p:spPr>
          <a:xfrm>
            <a:off x="507960" y="4073040"/>
            <a:ext cx="2849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zh-CN" sz="1200" strike="noStrike" u="none">
                <a:solidFill>
                  <a:srgbClr val="e74c3c"/>
                </a:solidFill>
                <a:effectLst/>
                <a:uFillTx/>
                <a:latin typeface="Arial"/>
                <a:ea typeface="Arial"/>
              </a:rPr>
              <a:t>电池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2"/>
          <p:cNvSpPr/>
          <p:nvPr/>
        </p:nvSpPr>
        <p:spPr>
          <a:xfrm>
            <a:off x="507960" y="4326840"/>
            <a:ext cx="28494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5500mAh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6" name="Chart 0"/>
          <p:cNvGraphicFramePr/>
          <p:nvPr/>
        </p:nvGraphicFramePr>
        <p:xfrm>
          <a:off x="3619440" y="1174680"/>
          <a:ext cx="5054400" cy="350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0" y="0"/>
            <a:ext cx="9143640" cy="92016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Text 1"/>
          <p:cNvSpPr/>
          <p:nvPr/>
        </p:nvSpPr>
        <p:spPr>
          <a:xfrm>
            <a:off x="507960" y="203040"/>
            <a:ext cx="82904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售价与版本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3146760" y="1227240"/>
            <a:ext cx="2850120" cy="1523520"/>
          </a:xfrm>
          <a:prstGeom prst="roundRect">
            <a:avLst>
              <a:gd name="adj" fmla="val 8333"/>
            </a:avLst>
          </a:prstGeom>
          <a:solidFill>
            <a:srgbClr val="f8f9fa"/>
          </a:solidFill>
          <a:ln w="381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Text 3"/>
          <p:cNvSpPr/>
          <p:nvPr/>
        </p:nvSpPr>
        <p:spPr>
          <a:xfrm>
            <a:off x="3740040" y="1493640"/>
            <a:ext cx="166356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zh-CN" sz="1600" strike="noStrike" u="none">
                <a:solidFill>
                  <a:srgbClr val="5d6d7e"/>
                </a:solidFill>
                <a:effectLst/>
                <a:uFillTx/>
                <a:latin typeface="Arial"/>
                <a:ea typeface="Arial"/>
              </a:rPr>
              <a:t>起售价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4"/>
          <p:cNvSpPr/>
          <p:nvPr/>
        </p:nvSpPr>
        <p:spPr>
          <a:xfrm>
            <a:off x="3740040" y="1865160"/>
            <a:ext cx="166356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e74c3c"/>
                </a:solidFill>
                <a:effectLst/>
                <a:uFillTx/>
                <a:latin typeface="Arial"/>
                <a:ea typeface="Arial"/>
              </a:rPr>
              <a:t>¥6,999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3629520" y="2954160"/>
            <a:ext cx="18846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zh-CN" sz="1800" strike="noStrike" u="none">
                <a:solidFill>
                  <a:srgbClr val="1c2833"/>
                </a:solidFill>
                <a:effectLst/>
                <a:uFillTx/>
                <a:latin typeface="Arial"/>
                <a:ea typeface="Arial"/>
              </a:rPr>
              <a:t>可选版本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3629520" y="3414600"/>
            <a:ext cx="188460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12GB+256GB</a:t>
            </a:r>
            <a:r>
              <a:rPr b="0" lang="en-US" sz="15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 ¥6,999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12GB+512GB</a:t>
            </a:r>
            <a:r>
              <a:rPr b="0" lang="en-US" sz="15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 ¥7,999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16GB+512GB</a:t>
            </a:r>
            <a:r>
              <a:rPr b="0" lang="en-US" sz="15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 ¥8,999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401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16GB+1TB</a:t>
            </a:r>
            <a:r>
              <a:rPr b="0" lang="en-US" sz="1500" strike="noStrike" u="non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 ¥9,999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2982960" y="902880"/>
            <a:ext cx="317772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2999"/>
              </a:spcAft>
              <a:tabLst>
                <a:tab algn="l" pos="0"/>
              </a:tabLst>
            </a:pPr>
            <a:r>
              <a:rPr b="1" lang="zh-CN" sz="5600" strike="noStrike" u="none">
                <a:solidFill>
                  <a:srgbClr val="e74c3c"/>
                </a:solidFill>
                <a:effectLst/>
                <a:uFillTx/>
                <a:latin typeface="Arial"/>
                <a:ea typeface="Arial"/>
              </a:rPr>
              <a:t>感谢观看</a:t>
            </a:r>
            <a:endParaRPr b="0" lang="en-US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"/>
          <p:cNvSpPr/>
          <p:nvPr/>
        </p:nvSpPr>
        <p:spPr>
          <a:xfrm>
            <a:off x="2982960" y="2322000"/>
            <a:ext cx="3177720" cy="11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4479"/>
              </a:lnSpc>
              <a:spcAft>
                <a:spcPts val="1500"/>
              </a:spcAft>
              <a:tabLst>
                <a:tab algn="l" pos="0"/>
              </a:tabLst>
            </a:pPr>
            <a:r>
              <a:rPr b="0" lang="zh-CN" sz="2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华为 </a:t>
            </a: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Mate 80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479"/>
              </a:lnSpc>
              <a:spcAft>
                <a:spcPts val="1500"/>
              </a:spcAft>
              <a:tabLst>
                <a:tab algn="l" pos="0"/>
              </a:tabLst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479"/>
              </a:lnSpc>
              <a:spcAft>
                <a:spcPts val="1500"/>
              </a:spcAft>
              <a:tabLst>
                <a:tab algn="l" pos="0"/>
              </a:tabLst>
            </a:pPr>
            <a:r>
              <a:rPr b="1" lang="zh-CN" sz="2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极致科技 </a:t>
            </a: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 </a:t>
            </a:r>
            <a:r>
              <a:rPr b="1" lang="zh-CN" sz="2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非凡体验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2982960" y="3840480"/>
            <a:ext cx="31777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Bef>
                <a:spcPts val="2999"/>
              </a:spcBef>
              <a:tabLst>
                <a:tab algn="l" pos="0"/>
              </a:tabLst>
            </a:pPr>
            <a:r>
              <a:rPr b="0" i="1" lang="zh-CN" sz="2200" strike="noStrike" u="none">
                <a:solidFill>
                  <a:srgbClr val="bdc3c7"/>
                </a:solidFill>
                <a:effectLst/>
                <a:uFillTx/>
                <a:latin typeface="Arial"/>
                <a:ea typeface="Arial"/>
              </a:rPr>
              <a:t>现已全面开售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LibreOffice/25.8.3.2$MacOSX_AARCH64 LibreOffice_project/8ca8d55c161d602844f5428fa4b58097424e324e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2025-12-22T13:12:15Z</dcterms:created>
  <dc:creator>Huawei</dc:creator>
  <dc:description/>
  <dc:language>zh-CN</dc:language>
  <cp:lastModifiedBy>Huawei</cp:lastModifiedBy>
  <dcterms:modified xsi:type="dcterms:W3CDTF">2025-12-22T13:12:15Z</dcterms:modified>
  <cp:revision>1</cp:revision>
  <dc:subject>PptxGenJS Presentation</dc:subject>
  <dc:title>华为 Mate 80 产品介绍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6</vt:r8>
  </property>
  <property fmtid="{D5CDD505-2E9C-101B-9397-08002B2CF9AE}" pid="3" name="PresentationFormat">
    <vt:lpwstr>On-screen Show (16:9)</vt:lpwstr>
  </property>
  <property fmtid="{D5CDD505-2E9C-101B-9397-08002B2CF9AE}" pid="4" name="Slides">
    <vt:r8>6</vt:r8>
  </property>
</Properties>
</file>