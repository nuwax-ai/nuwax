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_rels/notesSlide7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b="0" sz="1300" strike="noStrike" u="none">
                <a:solidFill>
                  <a:srgbClr val="000000"/>
                </a:solidFill>
                <a:uFillTx/>
                <a:latin typeface="Arial"/>
              </a:defRPr>
            </a:pPr>
            <a:r>
              <a:rPr b="0" sz="1800" strike="noStrike" u="none">
                <a:solidFill>
                  <a:srgbClr val="000000"/>
                </a:solidFill>
                <a:uFillTx/>
                <a:latin typeface="Arial"/>
              </a:rPr>
              <a:t>各模块测试通过率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测试通过率</c:v>
                </c:pt>
              </c:strCache>
            </c:strRef>
          </c:tx>
          <c:spPr>
            <a:solidFill>
              <a:srgbClr val="2980b9"/>
            </a:solidFill>
            <a:ln w="0">
              <a:noFill/>
            </a:ln>
          </c:spPr>
          <c:invertIfNegative val="0"/>
          <c:dLbls>
            <c:txPr>
              <a:bodyPr wrap="square"/>
              <a:lstStyle/>
              <a:p>
                <a:pPr>
                  <a:defRPr b="0" sz="12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功能测试</c:v>
                </c:pt>
                <c:pt idx="1">
                  <c:v>性能测试</c:v>
                </c:pt>
                <c:pt idx="2">
                  <c:v>兼容性测试</c:v>
                </c:pt>
                <c:pt idx="3">
                  <c:v>安全测试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98</c:v>
                </c:pt>
                <c:pt idx="1">
                  <c:v>95</c:v>
                </c:pt>
                <c:pt idx="2">
                  <c:v>92</c:v>
                </c:pt>
                <c:pt idx="3">
                  <c:v>88</c:v>
                </c:pt>
              </c:numCache>
            </c:numRef>
          </c:val>
        </c:ser>
        <c:gapWidth val="150"/>
        <c:overlap val="0"/>
        <c:axId val="73623138"/>
        <c:axId val="7064508"/>
      </c:barChart>
      <c:catAx>
        <c:axId val="73623138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测试类型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7064508"/>
        <c:crosses val="autoZero"/>
        <c:auto val="1"/>
        <c:lblAlgn val="ctr"/>
        <c:lblOffset val="100"/>
        <c:noMultiLvlLbl val="0"/>
      </c:catAx>
      <c:valAx>
        <c:axId val="7064508"/>
        <c:scaling>
          <c:orientation val="minMax"/>
          <c:max val="100"/>
          <c:min val="0"/>
        </c:scaling>
        <c:delete val="0"/>
        <c:axPos val="l"/>
        <c:majorGridlines>
          <c:spPr>
            <a:ln w="12600">
              <a:solidFill>
                <a:srgbClr val="888888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b="0" sz="13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b="0" sz="1000" strike="noStrike" u="none">
                    <a:solidFill>
                      <a:srgbClr val="000000"/>
                    </a:solidFill>
                    <a:uFillTx/>
                    <a:latin typeface="Arial"/>
                  </a:rPr>
                  <a:t>通过率 (%)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b="0" sz="12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7362313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E39BDFD-DD91-4B87-9A9C-EFE4DBA15EF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0D0D7C-087B-45C3-8F3F-14B76969B74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818E80-B371-49A3-ABD7-F534B2263DB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ED9B05-20CF-4F8F-987F-A84439D97EF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9BDF5C-ED50-4C46-917D-5F356F2241B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A087A3-F04F-41BF-BFF0-F5D862EA06A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D2204E-B3F4-4E2F-B8D4-B5CB008A939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4C6B85-0E91-4030-AC1E-CFDCA148C63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AE796-6343-45EA-A305-BA2E742B134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98B9270-EFF1-40C9-A886-4791D817376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C702B0-D2D1-4FFC-BC77-9EDE6B474F27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1457280" y="1047960"/>
            <a:ext cx="6229440" cy="87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2001"/>
              </a:spcAft>
              <a:tabLst>
                <a:tab algn="l" pos="0"/>
              </a:tabLst>
            </a:pPr>
            <a:r>
              <a:rPr b="1" lang="zh-CN" sz="4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大学网站编程毕业设计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457280" y="2178000"/>
            <a:ext cx="6229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4000"/>
              </a:spcAft>
              <a:tabLst>
                <a:tab algn="l" pos="0"/>
              </a:tabLst>
            </a:pPr>
            <a:r>
              <a:rPr b="0" lang="zh-CN" sz="2400" strike="noStrike" u="none">
                <a:solidFill>
                  <a:srgbClr val="aab7b8"/>
                </a:solidFill>
                <a:effectLst/>
                <a:uFillTx/>
                <a:latin typeface="Arial"/>
                <a:ea typeface="Arial"/>
              </a:rPr>
              <a:t>基于</a:t>
            </a:r>
            <a:r>
              <a:rPr b="0" lang="en-US" sz="2400" strike="noStrike" u="none">
                <a:solidFill>
                  <a:srgbClr val="aab7b8"/>
                </a:solidFill>
                <a:effectLst/>
                <a:uFillTx/>
                <a:latin typeface="Arial"/>
                <a:ea typeface="Arial"/>
              </a:rPr>
              <a:t>Web</a:t>
            </a:r>
            <a:r>
              <a:rPr b="0" lang="zh-CN" sz="2400" strike="noStrike" u="none">
                <a:solidFill>
                  <a:srgbClr val="aab7b8"/>
                </a:solidFill>
                <a:effectLst/>
                <a:uFillTx/>
                <a:latin typeface="Arial"/>
                <a:ea typeface="Arial"/>
              </a:rPr>
              <a:t>技术的校园信息管理系统设计与实现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1457280" y="3378240"/>
            <a:ext cx="62294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499"/>
              </a:spcBef>
              <a:spcAft>
                <a:spcPts val="499"/>
              </a:spcAft>
              <a:tabLst>
                <a:tab algn="l" pos="0"/>
              </a:tabLst>
            </a:pPr>
            <a:r>
              <a:rPr b="0" lang="zh-CN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答辩人：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XXX     </a:t>
            </a:r>
            <a:r>
              <a:rPr b="0" lang="zh-CN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指导教师：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XXX</a:t>
            </a:r>
            <a:r>
              <a:rPr b="0" lang="zh-CN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教授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1457280" y="3736800"/>
            <a:ext cx="62294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Bef>
                <a:spcPts val="499"/>
              </a:spcBef>
              <a:spcAft>
                <a:spcPts val="499"/>
              </a:spcAft>
              <a:tabLst>
                <a:tab algn="l" pos="0"/>
              </a:tabLst>
            </a:pPr>
            <a:r>
              <a:rPr b="0" lang="zh-CN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计算机科学与技术学院     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2025</a:t>
            </a:r>
            <a:r>
              <a:rPr b="0" lang="zh-CN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年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r>
              <a:rPr b="0" lang="zh-CN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月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0" y="0"/>
            <a:ext cx="9143640" cy="1015560"/>
          </a:xfrm>
          <a:prstGeom prst="rect">
            <a:avLst/>
          </a:prstGeom>
          <a:solidFill>
            <a:srgbClr val="1c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Text 1"/>
          <p:cNvSpPr/>
          <p:nvPr/>
        </p:nvSpPr>
        <p:spPr>
          <a:xfrm>
            <a:off x="507960" y="217440"/>
            <a:ext cx="83520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目录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507960" y="1523880"/>
            <a:ext cx="8127720" cy="242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8760" rIns="0" tIns="0" bIns="0" anchor="t">
            <a:noAutofit/>
          </a:bodyPr>
          <a:p>
            <a:pPr defTabSz="914400">
              <a:lnSpc>
                <a:spcPts val="252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项目背景与意义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研究背景、目的和意义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2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需求分析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功能需求与非功能需求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2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系统设计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总体架构与数据库设计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2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核心功能实现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关键技术与实现方案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2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系统测试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测试用例与测试结果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52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总结与展望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项目总结与未来规划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0" y="0"/>
            <a:ext cx="9143640" cy="1015560"/>
          </a:xfrm>
          <a:prstGeom prst="rect">
            <a:avLst/>
          </a:prstGeom>
          <a:solidFill>
            <a:srgbClr val="1c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07960" y="217440"/>
            <a:ext cx="292392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项目背景与意义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507960" y="1396800"/>
            <a:ext cx="39506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zh-CN" sz="20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研究背景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507960" y="1958760"/>
            <a:ext cx="3873240" cy="1305360"/>
          </a:xfrm>
          <a:prstGeom prst="roundRect">
            <a:avLst>
              <a:gd name="adj" fmla="val 3890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536400" y="1958760"/>
            <a:ext cx="360" cy="1305720"/>
          </a:xfrm>
          <a:prstGeom prst="line">
            <a:avLst/>
          </a:prstGeom>
          <a:ln w="5715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755640" y="2149200"/>
            <a:ext cx="35038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6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信息化需求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755640" y="2546280"/>
            <a:ext cx="35038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81"/>
              </a:lnSpc>
              <a:tabLst>
                <a:tab algn="l" pos="0"/>
              </a:tabLst>
            </a:pPr>
            <a:r>
              <a:rPr b="0" lang="zh-CN" sz="13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高校信息化建设快速发展，传统管理模式效率低下，亟需数字化解决方案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507960" y="3455280"/>
            <a:ext cx="3873240" cy="1305360"/>
          </a:xfrm>
          <a:prstGeom prst="roundRect">
            <a:avLst>
              <a:gd name="adj" fmla="val 3890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536400" y="3454920"/>
            <a:ext cx="360" cy="1306080"/>
          </a:xfrm>
          <a:prstGeom prst="line">
            <a:avLst/>
          </a:prstGeom>
          <a:ln w="5715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755640" y="3645720"/>
            <a:ext cx="35038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6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技术发展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755640" y="4042440"/>
            <a:ext cx="35038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81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Web</a:t>
            </a:r>
            <a:r>
              <a:rPr b="0" lang="zh-CN" sz="13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技术的成熟为校园信息管理提供了良好的技术基础和实现可能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762440" y="1396800"/>
            <a:ext cx="395064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500"/>
              </a:spcAft>
              <a:tabLst>
                <a:tab algn="l" pos="0"/>
              </a:tabLst>
            </a:pPr>
            <a:r>
              <a:rPr b="1" lang="zh-CN" sz="20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项目意义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4762440" y="1958760"/>
            <a:ext cx="3873240" cy="1305360"/>
          </a:xfrm>
          <a:prstGeom prst="roundRect">
            <a:avLst>
              <a:gd name="adj" fmla="val 3890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4790880" y="1958760"/>
            <a:ext cx="360" cy="1305720"/>
          </a:xfrm>
          <a:prstGeom prst="line">
            <a:avLst/>
          </a:prstGeom>
          <a:ln w="5715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5010120" y="2149200"/>
            <a:ext cx="35038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6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实用价值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5010120" y="2546280"/>
            <a:ext cx="35038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81"/>
              </a:lnSpc>
              <a:tabLst>
                <a:tab algn="l" pos="0"/>
              </a:tabLst>
            </a:pPr>
            <a:r>
              <a:rPr b="0" lang="zh-CN" sz="13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提高校园管理效率，优化资源配置，提升师生使用体验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4762440" y="3455280"/>
            <a:ext cx="3873240" cy="1305360"/>
          </a:xfrm>
          <a:prstGeom prst="roundRect">
            <a:avLst>
              <a:gd name="adj" fmla="val 3890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4790880" y="3454920"/>
            <a:ext cx="360" cy="1306080"/>
          </a:xfrm>
          <a:prstGeom prst="line">
            <a:avLst/>
          </a:prstGeom>
          <a:ln w="5715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5010120" y="3645720"/>
            <a:ext cx="350388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6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技术价值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5010120" y="4042440"/>
            <a:ext cx="3503880" cy="52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2081"/>
              </a:lnSpc>
              <a:tabLst>
                <a:tab algn="l" pos="0"/>
              </a:tabLst>
            </a:pPr>
            <a:r>
              <a:rPr b="0" lang="zh-CN" sz="13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综合运用</a:t>
            </a:r>
            <a:r>
              <a:rPr b="0" lang="en-US" sz="13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Web</a:t>
            </a:r>
            <a:r>
              <a:rPr b="0" lang="zh-CN" sz="13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开发技术，构建可扩展、可维护的信息管理平台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0" y="0"/>
            <a:ext cx="9143640" cy="1015560"/>
          </a:xfrm>
          <a:prstGeom prst="rect">
            <a:avLst/>
          </a:prstGeom>
          <a:solidFill>
            <a:srgbClr val="1c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07960" y="217440"/>
            <a:ext cx="1670760" cy="58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3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需求分析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507960" y="1396800"/>
            <a:ext cx="38858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zh-CN" sz="16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功能需求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"/>
          <p:cNvSpPr/>
          <p:nvPr/>
        </p:nvSpPr>
        <p:spPr>
          <a:xfrm>
            <a:off x="507960" y="1819080"/>
            <a:ext cx="3809880" cy="20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8760" rIns="0" tIns="0" bIns="0" anchor="t">
            <a:noAutofit/>
          </a:bodyPr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用户权限管理（学生、教师、管理员）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个人信息管理与查询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课程信息发布与管理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成绩查询与统计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通知公告发布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数据备份与恢复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4826160" y="1396800"/>
            <a:ext cx="38858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zh-CN" sz="16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非功能需求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4826160" y="1819080"/>
            <a:ext cx="3809880" cy="20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8760" rIns="0" tIns="0" bIns="0" anchor="t">
            <a:noAutofit/>
          </a:bodyPr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系统响应时间 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&lt; 2</a:t>
            </a: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秒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支持</a:t>
            </a:r>
            <a:r>
              <a:rPr b="0" lang="en-US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500+</a:t>
            </a: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并发用户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数据安全与隐私保护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跨平台浏览器兼容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界面友好易用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58760" indent="-158760" defTabSz="914400">
              <a:lnSpc>
                <a:spcPts val="2239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4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系统可维护性与扩展性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/>
          <p:cNvSpPr/>
          <p:nvPr/>
        </p:nvSpPr>
        <p:spPr>
          <a:xfrm>
            <a:off x="0" y="0"/>
            <a:ext cx="9143640" cy="952200"/>
          </a:xfrm>
          <a:prstGeom prst="rect">
            <a:avLst/>
          </a:prstGeom>
          <a:solidFill>
            <a:srgbClr val="1c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Text 1"/>
          <p:cNvSpPr/>
          <p:nvPr/>
        </p:nvSpPr>
        <p:spPr>
          <a:xfrm>
            <a:off x="507960" y="219240"/>
            <a:ext cx="31978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系统设计 </a:t>
            </a:r>
            <a:r>
              <a:rPr b="1" lang="en-US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- </a:t>
            </a:r>
            <a:r>
              <a:rPr b="1" lang="zh-CN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总体架构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507960" y="1143000"/>
            <a:ext cx="82904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zh-CN" sz="16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三层架构设计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507960" y="1565280"/>
            <a:ext cx="8127720" cy="3096720"/>
          </a:xfrm>
          <a:prstGeom prst="roundRect">
            <a:avLst>
              <a:gd name="adj" fmla="val 3280"/>
            </a:avLst>
          </a:prstGeom>
          <a:solidFill>
            <a:srgbClr val="f8f9f9"/>
          </a:solidFill>
          <a:ln w="1905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Text 4"/>
          <p:cNvSpPr/>
          <p:nvPr/>
        </p:nvSpPr>
        <p:spPr>
          <a:xfrm>
            <a:off x="3429000" y="1685880"/>
            <a:ext cx="2285280" cy="431280"/>
          </a:xfrm>
          <a:prstGeom prst="roundRect">
            <a:avLst>
              <a:gd name="adj" fmla="val 14713"/>
            </a:avLst>
          </a:prstGeom>
          <a:solidFill>
            <a:srgbClr val="e67e2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5"/>
          <p:cNvSpPr/>
          <p:nvPr/>
        </p:nvSpPr>
        <p:spPr>
          <a:xfrm>
            <a:off x="3665160" y="1787400"/>
            <a:ext cx="1812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表示层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(UI)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549720" y="2180880"/>
            <a:ext cx="8044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↓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7"/>
          <p:cNvSpPr/>
          <p:nvPr/>
        </p:nvSpPr>
        <p:spPr>
          <a:xfrm>
            <a:off x="3175200" y="2472840"/>
            <a:ext cx="2793600" cy="431280"/>
          </a:xfrm>
          <a:prstGeom prst="roundRect">
            <a:avLst>
              <a:gd name="adj" fmla="val 14713"/>
            </a:avLst>
          </a:prstGeom>
          <a:solidFill>
            <a:srgbClr val="27ae6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Text 8"/>
          <p:cNvSpPr/>
          <p:nvPr/>
        </p:nvSpPr>
        <p:spPr>
          <a:xfrm>
            <a:off x="3406320" y="2574360"/>
            <a:ext cx="23313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业务逻辑层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(Service)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549720" y="2967840"/>
            <a:ext cx="8044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↓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3429000" y="3259800"/>
            <a:ext cx="2285280" cy="431280"/>
          </a:xfrm>
          <a:prstGeom prst="roundRect">
            <a:avLst>
              <a:gd name="adj" fmla="val 14713"/>
            </a:avLst>
          </a:prstGeom>
          <a:solidFill>
            <a:srgbClr val="8e44a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Text 11"/>
          <p:cNvSpPr/>
          <p:nvPr/>
        </p:nvSpPr>
        <p:spPr>
          <a:xfrm>
            <a:off x="3665160" y="3361320"/>
            <a:ext cx="1812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数据访问层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(DAO)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549720" y="3754800"/>
            <a:ext cx="8044200" cy="2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↓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3"/>
          <p:cNvSpPr/>
          <p:nvPr/>
        </p:nvSpPr>
        <p:spPr>
          <a:xfrm>
            <a:off x="3429000" y="4046760"/>
            <a:ext cx="2285280" cy="431280"/>
          </a:xfrm>
          <a:prstGeom prst="roundRect">
            <a:avLst>
              <a:gd name="adj" fmla="val 14713"/>
            </a:avLst>
          </a:prstGeom>
          <a:solidFill>
            <a:srgbClr val="1c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3665160" y="4148280"/>
            <a:ext cx="1812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数据库层 </a:t>
            </a: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(MySQL)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5"/>
          <p:cNvSpPr/>
          <p:nvPr/>
        </p:nvSpPr>
        <p:spPr>
          <a:xfrm>
            <a:off x="507960" y="4802040"/>
            <a:ext cx="829044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539"/>
              </a:lnSpc>
              <a:spcBef>
                <a:spcPts val="1100"/>
              </a:spcBef>
              <a:spcAft>
                <a:spcPts val="1100"/>
              </a:spcAft>
              <a:tabLst>
                <a:tab algn="l" pos="0"/>
              </a:tabLst>
            </a:pPr>
            <a:r>
              <a:rPr b="0" lang="zh-CN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采用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MVC</a:t>
            </a:r>
            <a:r>
              <a:rPr b="0" lang="zh-CN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设计模式，实现业务逻辑与数据展示分离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 0"/>
          <p:cNvSpPr/>
          <p:nvPr/>
        </p:nvSpPr>
        <p:spPr>
          <a:xfrm>
            <a:off x="0" y="0"/>
            <a:ext cx="9143640" cy="952200"/>
          </a:xfrm>
          <a:prstGeom prst="rect">
            <a:avLst/>
          </a:prstGeom>
          <a:solidFill>
            <a:srgbClr val="1c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Text 1"/>
          <p:cNvSpPr/>
          <p:nvPr/>
        </p:nvSpPr>
        <p:spPr>
          <a:xfrm>
            <a:off x="507960" y="219240"/>
            <a:ext cx="179712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8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数据库设计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507960" y="1206360"/>
            <a:ext cx="39830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zh-CN" sz="16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核心数据表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507960" y="1654200"/>
            <a:ext cx="3904920" cy="2520360"/>
          </a:xfrm>
          <a:prstGeom prst="roundRect">
            <a:avLst>
              <a:gd name="adj" fmla="val 2015"/>
            </a:avLst>
          </a:prstGeom>
          <a:solidFill>
            <a:srgbClr val="f8f9f9"/>
          </a:solidFill>
          <a:ln w="9525">
            <a:solidFill>
              <a:srgbClr val="ddddd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Shape 4"/>
          <p:cNvSpPr/>
          <p:nvPr/>
        </p:nvSpPr>
        <p:spPr>
          <a:xfrm>
            <a:off x="644400" y="2176200"/>
            <a:ext cx="3632400" cy="360"/>
          </a:xfrm>
          <a:prstGeom prst="line">
            <a:avLst/>
          </a:prstGeom>
          <a:ln w="9525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5"/>
          <p:cNvSpPr/>
          <p:nvPr/>
        </p:nvSpPr>
        <p:spPr>
          <a:xfrm>
            <a:off x="644400" y="1866600"/>
            <a:ext cx="123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用户表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6"/>
          <p:cNvSpPr/>
          <p:nvPr/>
        </p:nvSpPr>
        <p:spPr>
          <a:xfrm>
            <a:off x="1855440" y="1866600"/>
            <a:ext cx="246960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user (id, username, password, role, ...)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7"/>
          <p:cNvSpPr/>
          <p:nvPr/>
        </p:nvSpPr>
        <p:spPr>
          <a:xfrm>
            <a:off x="644400" y="2642760"/>
            <a:ext cx="3632400" cy="360"/>
          </a:xfrm>
          <a:prstGeom prst="line">
            <a:avLst/>
          </a:prstGeom>
          <a:ln w="9525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644400" y="2257200"/>
            <a:ext cx="123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学生表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9"/>
          <p:cNvSpPr/>
          <p:nvPr/>
        </p:nvSpPr>
        <p:spPr>
          <a:xfrm>
            <a:off x="1855440" y="2257200"/>
            <a:ext cx="246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student (id, name, student_no, class_id, ...)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644400" y="3109680"/>
            <a:ext cx="3632400" cy="360"/>
          </a:xfrm>
          <a:prstGeom prst="line">
            <a:avLst/>
          </a:prstGeom>
          <a:ln w="9525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644400" y="2724120"/>
            <a:ext cx="123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课程表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1855440" y="2724120"/>
            <a:ext cx="246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course (id, name, teacher_id, credit, ...)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644400" y="3576240"/>
            <a:ext cx="3632400" cy="360"/>
          </a:xfrm>
          <a:prstGeom prst="line">
            <a:avLst/>
          </a:prstGeom>
          <a:ln w="9525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644400" y="3190680"/>
            <a:ext cx="123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成绩表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1855440" y="3190680"/>
            <a:ext cx="246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score (id, student_id, course_id, score, ...)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644400" y="3657600"/>
            <a:ext cx="1234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12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通知表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7"/>
          <p:cNvSpPr/>
          <p:nvPr/>
        </p:nvSpPr>
        <p:spPr>
          <a:xfrm>
            <a:off x="1855440" y="3657600"/>
            <a:ext cx="246960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notice (id, title, content, publish_time, ...)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8"/>
          <p:cNvSpPr/>
          <p:nvPr/>
        </p:nvSpPr>
        <p:spPr>
          <a:xfrm>
            <a:off x="4730760" y="1206360"/>
            <a:ext cx="3983040" cy="2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199"/>
              </a:spcAft>
              <a:tabLst>
                <a:tab algn="l" pos="0"/>
              </a:tabLst>
            </a:pPr>
            <a:r>
              <a:rPr b="1" lang="zh-CN" sz="16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设计特点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9"/>
          <p:cNvSpPr/>
          <p:nvPr/>
        </p:nvSpPr>
        <p:spPr>
          <a:xfrm>
            <a:off x="4730760" y="1654200"/>
            <a:ext cx="3904920" cy="152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noAutofit/>
          </a:bodyPr>
          <a:p>
            <a:pPr defTabSz="914400">
              <a:lnSpc>
                <a:spcPts val="1919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规范化设计</a:t>
            </a: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：遵循第三范式，减少数据冗余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索引优化</a:t>
            </a: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：为常用查询字段建立索引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外键约束</a:t>
            </a: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：保证数据完整性和一致性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安全性</a:t>
            </a: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：敏感字段加密存储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19"/>
              </a:lnSpc>
              <a:spcAft>
                <a:spcPts val="601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扩展性</a:t>
            </a:r>
            <a:r>
              <a:rPr b="0" lang="zh-CN" sz="12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：预留扩展字段，便于功能迭代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 0"/>
          <p:cNvSpPr/>
          <p:nvPr/>
        </p:nvSpPr>
        <p:spPr>
          <a:xfrm>
            <a:off x="0" y="0"/>
            <a:ext cx="9143640" cy="825120"/>
          </a:xfrm>
          <a:prstGeom prst="rect">
            <a:avLst/>
          </a:prstGeom>
          <a:solidFill>
            <a:srgbClr val="1c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1"/>
          <p:cNvSpPr/>
          <p:nvPr/>
        </p:nvSpPr>
        <p:spPr>
          <a:xfrm>
            <a:off x="507960" y="193680"/>
            <a:ext cx="186516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核心功能实现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2"/>
          <p:cNvSpPr/>
          <p:nvPr/>
        </p:nvSpPr>
        <p:spPr>
          <a:xfrm>
            <a:off x="507960" y="977760"/>
            <a:ext cx="829044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799"/>
              </a:spcAft>
              <a:tabLst>
                <a:tab algn="l" pos="0"/>
              </a:tabLst>
            </a:pPr>
            <a:r>
              <a:rPr b="1" lang="zh-CN" sz="14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关键技术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507960" y="1336320"/>
            <a:ext cx="4304880" cy="552600"/>
          </a:xfrm>
          <a:prstGeom prst="roundRect">
            <a:avLst>
              <a:gd name="adj" fmla="val 9188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Shape 4"/>
          <p:cNvSpPr/>
          <p:nvPr/>
        </p:nvSpPr>
        <p:spPr>
          <a:xfrm>
            <a:off x="526680" y="1336320"/>
            <a:ext cx="360" cy="552960"/>
          </a:xfrm>
          <a:prstGeom prst="line">
            <a:avLst/>
          </a:prstGeom>
          <a:ln w="381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5"/>
          <p:cNvSpPr/>
          <p:nvPr/>
        </p:nvSpPr>
        <p:spPr>
          <a:xfrm>
            <a:off x="672840" y="1425240"/>
            <a:ext cx="40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前端技术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6"/>
          <p:cNvSpPr/>
          <p:nvPr/>
        </p:nvSpPr>
        <p:spPr>
          <a:xfrm>
            <a:off x="672840" y="1663560"/>
            <a:ext cx="4093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8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HTML5 + CSS3 + JS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7"/>
          <p:cNvSpPr/>
          <p:nvPr/>
        </p:nvSpPr>
        <p:spPr>
          <a:xfrm>
            <a:off x="507960" y="1978200"/>
            <a:ext cx="4304880" cy="552600"/>
          </a:xfrm>
          <a:prstGeom prst="roundRect">
            <a:avLst>
              <a:gd name="adj" fmla="val 9188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Shape 8"/>
          <p:cNvSpPr/>
          <p:nvPr/>
        </p:nvSpPr>
        <p:spPr>
          <a:xfrm>
            <a:off x="526680" y="1978200"/>
            <a:ext cx="360" cy="552600"/>
          </a:xfrm>
          <a:prstGeom prst="line">
            <a:avLst/>
          </a:prstGeom>
          <a:ln w="381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9"/>
          <p:cNvSpPr/>
          <p:nvPr/>
        </p:nvSpPr>
        <p:spPr>
          <a:xfrm>
            <a:off x="672840" y="2067120"/>
            <a:ext cx="40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后端框架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0"/>
          <p:cNvSpPr/>
          <p:nvPr/>
        </p:nvSpPr>
        <p:spPr>
          <a:xfrm>
            <a:off x="672840" y="2305080"/>
            <a:ext cx="4093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8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Spring Boot MVC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1"/>
          <p:cNvSpPr/>
          <p:nvPr/>
        </p:nvSpPr>
        <p:spPr>
          <a:xfrm>
            <a:off x="507960" y="2620080"/>
            <a:ext cx="4304880" cy="552600"/>
          </a:xfrm>
          <a:prstGeom prst="roundRect">
            <a:avLst>
              <a:gd name="adj" fmla="val 9188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Shape 12"/>
          <p:cNvSpPr/>
          <p:nvPr/>
        </p:nvSpPr>
        <p:spPr>
          <a:xfrm>
            <a:off x="526680" y="2619720"/>
            <a:ext cx="360" cy="552960"/>
          </a:xfrm>
          <a:prstGeom prst="line">
            <a:avLst/>
          </a:prstGeom>
          <a:ln w="381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3"/>
          <p:cNvSpPr/>
          <p:nvPr/>
        </p:nvSpPr>
        <p:spPr>
          <a:xfrm>
            <a:off x="672840" y="2709000"/>
            <a:ext cx="40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持久化层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4"/>
          <p:cNvSpPr/>
          <p:nvPr/>
        </p:nvSpPr>
        <p:spPr>
          <a:xfrm>
            <a:off x="672840" y="2946960"/>
            <a:ext cx="4093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8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MyBatis + MySQL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5"/>
          <p:cNvSpPr/>
          <p:nvPr/>
        </p:nvSpPr>
        <p:spPr>
          <a:xfrm>
            <a:off x="507960" y="3261600"/>
            <a:ext cx="4304880" cy="552600"/>
          </a:xfrm>
          <a:prstGeom prst="roundRect">
            <a:avLst>
              <a:gd name="adj" fmla="val 9188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Shape 16"/>
          <p:cNvSpPr/>
          <p:nvPr/>
        </p:nvSpPr>
        <p:spPr>
          <a:xfrm>
            <a:off x="526680" y="3261600"/>
            <a:ext cx="360" cy="552960"/>
          </a:xfrm>
          <a:prstGeom prst="line">
            <a:avLst/>
          </a:prstGeom>
          <a:ln w="381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7"/>
          <p:cNvSpPr/>
          <p:nvPr/>
        </p:nvSpPr>
        <p:spPr>
          <a:xfrm>
            <a:off x="672840" y="3350520"/>
            <a:ext cx="40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权限控制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8"/>
          <p:cNvSpPr/>
          <p:nvPr/>
        </p:nvSpPr>
        <p:spPr>
          <a:xfrm>
            <a:off x="672840" y="3588840"/>
            <a:ext cx="4093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8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Spring Security JWT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9"/>
          <p:cNvSpPr/>
          <p:nvPr/>
        </p:nvSpPr>
        <p:spPr>
          <a:xfrm>
            <a:off x="507960" y="3903480"/>
            <a:ext cx="4304880" cy="552600"/>
          </a:xfrm>
          <a:prstGeom prst="roundRect">
            <a:avLst>
              <a:gd name="adj" fmla="val 9188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Shape 20"/>
          <p:cNvSpPr/>
          <p:nvPr/>
        </p:nvSpPr>
        <p:spPr>
          <a:xfrm>
            <a:off x="526680" y="3903120"/>
            <a:ext cx="360" cy="552960"/>
          </a:xfrm>
          <a:prstGeom prst="line">
            <a:avLst/>
          </a:prstGeom>
          <a:ln w="381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1"/>
          <p:cNvSpPr/>
          <p:nvPr/>
        </p:nvSpPr>
        <p:spPr>
          <a:xfrm>
            <a:off x="672840" y="3992400"/>
            <a:ext cx="40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缓存技术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2"/>
          <p:cNvSpPr/>
          <p:nvPr/>
        </p:nvSpPr>
        <p:spPr>
          <a:xfrm>
            <a:off x="672840" y="4230360"/>
            <a:ext cx="4093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8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Redis</a:t>
            </a:r>
            <a:r>
              <a:rPr b="0" lang="zh-CN" sz="9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缓存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23"/>
          <p:cNvSpPr/>
          <p:nvPr/>
        </p:nvSpPr>
        <p:spPr>
          <a:xfrm>
            <a:off x="507960" y="4545360"/>
            <a:ext cx="4304880" cy="552600"/>
          </a:xfrm>
          <a:prstGeom prst="roundRect">
            <a:avLst>
              <a:gd name="adj" fmla="val 9188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Shape 24"/>
          <p:cNvSpPr/>
          <p:nvPr/>
        </p:nvSpPr>
        <p:spPr>
          <a:xfrm>
            <a:off x="526680" y="4545000"/>
            <a:ext cx="360" cy="552960"/>
          </a:xfrm>
          <a:prstGeom prst="line">
            <a:avLst/>
          </a:prstGeom>
          <a:ln w="381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25"/>
          <p:cNvSpPr/>
          <p:nvPr/>
        </p:nvSpPr>
        <p:spPr>
          <a:xfrm>
            <a:off x="672840" y="4633920"/>
            <a:ext cx="40932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1c2833"/>
                </a:solidFill>
                <a:effectLst/>
                <a:uFillTx/>
                <a:latin typeface="Arial"/>
                <a:ea typeface="Arial"/>
              </a:rPr>
              <a:t>文件上传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26"/>
          <p:cNvSpPr/>
          <p:nvPr/>
        </p:nvSpPr>
        <p:spPr>
          <a:xfrm>
            <a:off x="672840" y="4872240"/>
            <a:ext cx="4093200" cy="13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08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OSS</a:t>
            </a:r>
            <a:r>
              <a:rPr b="0" lang="zh-CN" sz="9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云存储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0" y="0"/>
            <a:ext cx="9143640" cy="825120"/>
          </a:xfrm>
          <a:prstGeom prst="rect">
            <a:avLst/>
          </a:prstGeom>
          <a:solidFill>
            <a:srgbClr val="1c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07960" y="193680"/>
            <a:ext cx="124308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系统测试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444240" y="1015920"/>
            <a:ext cx="4047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zh-CN" sz="15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测试结果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444240" y="3578040"/>
            <a:ext cx="3968640" cy="75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noAutofit/>
          </a:bodyPr>
          <a:p>
            <a:pPr marL="190440" indent="-190440" defTabSz="914400">
              <a:lnSpc>
                <a:spcPts val="1650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1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功能测试：全部通过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ts val="1650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1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性能测试：响应时间达标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ts val="1650"/>
              </a:lnSpc>
              <a:spcAft>
                <a:spcPts val="499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1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兼容性测试：主流浏览器兼容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4"/>
          <p:cNvSpPr/>
          <p:nvPr/>
        </p:nvSpPr>
        <p:spPr>
          <a:xfrm>
            <a:off x="4730760" y="1015920"/>
            <a:ext cx="40478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zh-CN" sz="15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测试统计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5"/>
          <p:cNvSpPr/>
          <p:nvPr/>
        </p:nvSpPr>
        <p:spPr>
          <a:xfrm>
            <a:off x="4730760" y="1419120"/>
            <a:ext cx="3968640" cy="767880"/>
          </a:xfrm>
          <a:prstGeom prst="roundRect">
            <a:avLst>
              <a:gd name="adj" fmla="val 8266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 6"/>
          <p:cNvSpPr/>
          <p:nvPr/>
        </p:nvSpPr>
        <p:spPr>
          <a:xfrm>
            <a:off x="4857840" y="1584000"/>
            <a:ext cx="3789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测试用例总数：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156</a:t>
            </a:r>
            <a:r>
              <a:rPr b="0" lang="zh-CN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个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7"/>
          <p:cNvSpPr/>
          <p:nvPr/>
        </p:nvSpPr>
        <p:spPr>
          <a:xfrm>
            <a:off x="4857840" y="1822320"/>
            <a:ext cx="3789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通过率：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98.7%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8"/>
          <p:cNvSpPr/>
          <p:nvPr/>
        </p:nvSpPr>
        <p:spPr>
          <a:xfrm>
            <a:off x="4730760" y="2288880"/>
            <a:ext cx="3968640" cy="767880"/>
          </a:xfrm>
          <a:prstGeom prst="roundRect">
            <a:avLst>
              <a:gd name="adj" fmla="val 8266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 9"/>
          <p:cNvSpPr/>
          <p:nvPr/>
        </p:nvSpPr>
        <p:spPr>
          <a:xfrm>
            <a:off x="4857840" y="2453760"/>
            <a:ext cx="3789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功能模块：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8</a:t>
            </a:r>
            <a:r>
              <a:rPr b="0" lang="zh-CN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个核心模块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0"/>
          <p:cNvSpPr/>
          <p:nvPr/>
        </p:nvSpPr>
        <p:spPr>
          <a:xfrm>
            <a:off x="4857840" y="2692080"/>
            <a:ext cx="3789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代码覆盖率：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85%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1"/>
          <p:cNvSpPr/>
          <p:nvPr/>
        </p:nvSpPr>
        <p:spPr>
          <a:xfrm>
            <a:off x="4730760" y="3158640"/>
            <a:ext cx="3968640" cy="767880"/>
          </a:xfrm>
          <a:prstGeom prst="roundRect">
            <a:avLst>
              <a:gd name="adj" fmla="val 8266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 12"/>
          <p:cNvSpPr/>
          <p:nvPr/>
        </p:nvSpPr>
        <p:spPr>
          <a:xfrm>
            <a:off x="4857840" y="3323520"/>
            <a:ext cx="3789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并发测试：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 支持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500</a:t>
            </a:r>
            <a:r>
              <a:rPr b="0" lang="zh-CN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并发用户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3"/>
          <p:cNvSpPr/>
          <p:nvPr/>
        </p:nvSpPr>
        <p:spPr>
          <a:xfrm>
            <a:off x="4857840" y="3561840"/>
            <a:ext cx="378900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tabLst>
                <a:tab algn="l" pos="0"/>
              </a:tabLst>
            </a:pPr>
            <a:r>
              <a:rPr b="1" lang="zh-CN" sz="11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平均响应时间：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b="0" lang="en-US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1.2</a:t>
            </a:r>
            <a:r>
              <a:rPr b="0" lang="zh-CN" sz="11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秒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0" name="Chart 0"/>
          <p:cNvGraphicFramePr/>
          <p:nvPr/>
        </p:nvGraphicFramePr>
        <p:xfrm>
          <a:off x="444240" y="1419120"/>
          <a:ext cx="3968640" cy="2031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0"/>
          <p:cNvSpPr/>
          <p:nvPr/>
        </p:nvSpPr>
        <p:spPr>
          <a:xfrm>
            <a:off x="0" y="0"/>
            <a:ext cx="9143640" cy="825120"/>
          </a:xfrm>
          <a:prstGeom prst="rect">
            <a:avLst/>
          </a:prstGeom>
          <a:solidFill>
            <a:srgbClr val="1c28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 1"/>
          <p:cNvSpPr/>
          <p:nvPr/>
        </p:nvSpPr>
        <p:spPr>
          <a:xfrm>
            <a:off x="507960" y="193680"/>
            <a:ext cx="155412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zh-CN" sz="24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总结与展望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507960" y="1015920"/>
            <a:ext cx="39830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zh-CN" sz="15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项目总结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507960" y="1431720"/>
            <a:ext cx="3904920" cy="142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0440" rIns="0" tIns="0" bIns="0" anchor="t">
            <a:noAutofit/>
          </a:bodyPr>
          <a:p>
            <a:pPr marL="190440" indent="-190440" defTabSz="914400">
              <a:lnSpc>
                <a:spcPts val="1760"/>
              </a:lnSpc>
              <a:spcAft>
                <a:spcPts val="601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1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成功设计并实现了校园信息管理系统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ts val="1760"/>
              </a:lnSpc>
              <a:spcAft>
                <a:spcPts val="601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1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采用前后端分离架构，提高可维护性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ts val="1760"/>
              </a:lnSpc>
              <a:spcAft>
                <a:spcPts val="601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1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实现了用户管理、课程管理、成绩查询等核心功能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ts val="1760"/>
              </a:lnSpc>
              <a:spcAft>
                <a:spcPts val="601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1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系统性能稳定，测试结果良好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 defTabSz="914400">
              <a:lnSpc>
                <a:spcPts val="1760"/>
              </a:lnSpc>
              <a:spcAft>
                <a:spcPts val="601"/>
              </a:spcAft>
              <a:buClr>
                <a:srgbClr val="333333"/>
              </a:buClr>
              <a:buFont typeface="Symbol" charset="2"/>
              <a:buChar char=""/>
            </a:pPr>
            <a:r>
              <a:rPr b="0" lang="zh-CN" sz="11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综合运用了</a:t>
            </a:r>
            <a:r>
              <a:rPr b="0" lang="en-US" sz="11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Web</a:t>
            </a:r>
            <a:r>
              <a:rPr b="0" lang="zh-CN" sz="1100" strike="noStrike" u="none">
                <a:solidFill>
                  <a:srgbClr val="333333"/>
                </a:solidFill>
                <a:effectLst/>
                <a:uFillTx/>
                <a:latin typeface="Arial"/>
                <a:ea typeface="Arial"/>
              </a:rPr>
              <a:t>开发的多种主流技术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4"/>
          <p:cNvSpPr/>
          <p:nvPr/>
        </p:nvSpPr>
        <p:spPr>
          <a:xfrm>
            <a:off x="4730760" y="1015920"/>
            <a:ext cx="3983040" cy="27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1001"/>
              </a:spcAft>
              <a:tabLst>
                <a:tab algn="l" pos="0"/>
              </a:tabLst>
            </a:pPr>
            <a:r>
              <a:rPr b="1" lang="zh-CN" sz="1500" strike="noStrike" u="none">
                <a:solidFill>
                  <a:srgbClr val="2980b9"/>
                </a:solidFill>
                <a:effectLst/>
                <a:uFillTx/>
                <a:latin typeface="Arial"/>
                <a:ea typeface="Arial"/>
              </a:rPr>
              <a:t>未来展望</a:t>
            </a:r>
            <a:endParaRPr b="0" lang="en-US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4730760" y="1419120"/>
            <a:ext cx="3904920" cy="646920"/>
          </a:xfrm>
          <a:prstGeom prst="roundRect">
            <a:avLst>
              <a:gd name="adj" fmla="val 7849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4749840" y="1418760"/>
            <a:ext cx="360" cy="647280"/>
          </a:xfrm>
          <a:prstGeom prst="line">
            <a:avLst/>
          </a:prstGeom>
          <a:ln w="381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7"/>
          <p:cNvSpPr/>
          <p:nvPr/>
        </p:nvSpPr>
        <p:spPr>
          <a:xfrm>
            <a:off x="4896000" y="1520640"/>
            <a:ext cx="368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功能扩展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4896000" y="1800000"/>
            <a:ext cx="368532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zh-CN" sz="10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增加移动端</a:t>
            </a: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APP</a:t>
            </a:r>
            <a:r>
              <a:rPr b="0" lang="zh-CN" sz="10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，实现多端同步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4730760" y="2167920"/>
            <a:ext cx="3904920" cy="646920"/>
          </a:xfrm>
          <a:prstGeom prst="roundRect">
            <a:avLst>
              <a:gd name="adj" fmla="val 7849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4749840" y="2167560"/>
            <a:ext cx="360" cy="647280"/>
          </a:xfrm>
          <a:prstGeom prst="line">
            <a:avLst/>
          </a:prstGeom>
          <a:ln w="381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4896000" y="2269440"/>
            <a:ext cx="368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智能化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4896000" y="2548800"/>
            <a:ext cx="368532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zh-CN" sz="10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引入</a:t>
            </a:r>
            <a:r>
              <a:rPr b="0" lang="en-US" sz="10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AI</a:t>
            </a:r>
            <a:r>
              <a:rPr b="0" lang="zh-CN" sz="10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算法，实现智能推荐和数据分析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4730760" y="2916720"/>
            <a:ext cx="3904920" cy="646920"/>
          </a:xfrm>
          <a:prstGeom prst="roundRect">
            <a:avLst>
              <a:gd name="adj" fmla="val 7849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5" name="Shape 14"/>
          <p:cNvSpPr/>
          <p:nvPr/>
        </p:nvSpPr>
        <p:spPr>
          <a:xfrm>
            <a:off x="4749840" y="2916360"/>
            <a:ext cx="360" cy="647280"/>
          </a:xfrm>
          <a:prstGeom prst="line">
            <a:avLst/>
          </a:prstGeom>
          <a:ln w="381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4896000" y="3018240"/>
            <a:ext cx="368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性能优化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6"/>
          <p:cNvSpPr/>
          <p:nvPr/>
        </p:nvSpPr>
        <p:spPr>
          <a:xfrm>
            <a:off x="4896000" y="3297600"/>
            <a:ext cx="368532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zh-CN" sz="10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采用微服务架构，提升系统扩展能力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7"/>
          <p:cNvSpPr/>
          <p:nvPr/>
        </p:nvSpPr>
        <p:spPr>
          <a:xfrm>
            <a:off x="4730760" y="3665160"/>
            <a:ext cx="3904920" cy="646920"/>
          </a:xfrm>
          <a:prstGeom prst="roundRect">
            <a:avLst>
              <a:gd name="adj" fmla="val 7849"/>
            </a:avLst>
          </a:prstGeom>
          <a:solidFill>
            <a:srgbClr val="f8f9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4749840" y="3665160"/>
            <a:ext cx="360" cy="647280"/>
          </a:xfrm>
          <a:prstGeom prst="line">
            <a:avLst/>
          </a:prstGeom>
          <a:ln w="38100">
            <a:solidFill>
              <a:srgbClr val="2980b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4896000" y="3766680"/>
            <a:ext cx="36853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zh-CN" sz="12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安全加固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0"/>
          <p:cNvSpPr/>
          <p:nvPr/>
        </p:nvSpPr>
        <p:spPr>
          <a:xfrm>
            <a:off x="4896000" y="4046040"/>
            <a:ext cx="3685320" cy="1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ts val="1301"/>
              </a:lnSpc>
              <a:tabLst>
                <a:tab algn="l" pos="0"/>
              </a:tabLst>
            </a:pPr>
            <a:r>
              <a:rPr b="0" lang="zh-CN" sz="1000" strike="noStrike" u="none">
                <a:solidFill>
                  <a:srgbClr val="555555"/>
                </a:solidFill>
                <a:effectLst/>
                <a:uFillTx/>
                <a:latin typeface="Arial"/>
                <a:ea typeface="Arial"/>
              </a:rPr>
              <a:t>加强数据加密和防护机制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 0"/>
          <p:cNvSpPr/>
          <p:nvPr/>
        </p:nvSpPr>
        <p:spPr>
          <a:xfrm>
            <a:off x="3211920" y="823320"/>
            <a:ext cx="2720160" cy="77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2500"/>
              </a:spcAft>
              <a:tabLst>
                <a:tab algn="l" pos="0"/>
              </a:tabLst>
            </a:pPr>
            <a:r>
              <a:rPr b="1" lang="zh-CN" sz="42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感谢聆听！</a:t>
            </a:r>
            <a:endParaRPr b="0" lang="en-US" sz="4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"/>
          <p:cNvSpPr/>
          <p:nvPr/>
        </p:nvSpPr>
        <p:spPr>
          <a:xfrm>
            <a:off x="3211920" y="1912320"/>
            <a:ext cx="2720160" cy="3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spcAft>
                <a:spcPts val="5000"/>
              </a:spcAft>
              <a:tabLst>
                <a:tab algn="l" pos="0"/>
              </a:tabLst>
            </a:pPr>
            <a:r>
              <a:rPr b="0" lang="zh-CN" sz="2000" strike="noStrike" u="none">
                <a:solidFill>
                  <a:srgbClr val="aab7b8"/>
                </a:solidFill>
                <a:effectLst/>
                <a:uFillTx/>
                <a:latin typeface="Arial"/>
                <a:ea typeface="Arial"/>
              </a:rPr>
              <a:t>敬请各位老师批评指正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3211920" y="2918520"/>
            <a:ext cx="272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88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zh-CN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答辩人：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XXX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3211920" y="3385800"/>
            <a:ext cx="272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88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zh-CN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指导教师：</a:t>
            </a: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XXX</a:t>
            </a:r>
            <a:r>
              <a:rPr b="0" lang="zh-CN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教授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3211920" y="3853080"/>
            <a:ext cx="2720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ts val="2880"/>
              </a:lnSpc>
              <a:spcBef>
                <a:spcPts val="799"/>
              </a:spcBef>
              <a:spcAft>
                <a:spcPts val="799"/>
              </a:spcAft>
              <a:tabLst>
                <a:tab algn="l" pos="0"/>
              </a:tabLst>
            </a:pPr>
            <a:r>
              <a:rPr b="0" lang="zh-CN" sz="1600" strike="noStrike" u="non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计算机科学与技术学院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LibreOffice/25.8.3.2$MacOSX_AARCH64 LibreOffice_project/8ca8d55c161d602844f5428fa4b58097424e324e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2025-12-24T12:19:37Z</dcterms:created>
  <dc:creator>Student</dc:creator>
  <dc:description/>
  <dc:language>zh-CN</dc:language>
  <cp:lastModifiedBy>Student</cp:lastModifiedBy>
  <dcterms:modified xsi:type="dcterms:W3CDTF">2025-12-24T12:19:37Z</dcterms:modified>
  <cp:revision>1</cp:revision>
  <dc:subject>PptxGenJS Presentation</dc:subject>
  <dc:title>大学网站编程毕业设计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On-screen Show (16:9)</vt:lpwstr>
  </property>
  <property fmtid="{D5CDD505-2E9C-101B-9397-08002B2CF9AE}" pid="4" name="Slides">
    <vt:r8>10</vt:r8>
  </property>
</Properties>
</file>