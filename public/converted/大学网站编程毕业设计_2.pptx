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E1FA34A-7C25-4111-806A-8C5B2A39595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CBF5E-5527-4300-8447-C2BB521C2CB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FFD29-D5A3-46F0-BFDA-2DF2EB5ED14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E4E690-7214-4BE2-9930-10FB61B9BA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19B33C-A26F-40B7-873B-C4BEA266923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3743B4-9B41-4828-AF57-4C7D9E4DF2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D9E59E-51E6-4B6F-A3E4-E69E16644C8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3BE976-D4C9-4A9E-80B3-37A8B14E67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0" y="0"/>
            <a:ext cx="75960" cy="5143320"/>
          </a:xfrm>
          <a:prstGeom prst="rect">
            <a:avLst/>
          </a:prstGeom>
          <a:solidFill>
            <a:srgbClr val="4069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71680" y="1714680"/>
            <a:ext cx="8160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861"/>
              </a:lnSpc>
              <a:spcAft>
                <a:spcPts val="1800"/>
              </a:spcAft>
              <a:tabLst>
                <a:tab algn="l" pos="0"/>
              </a:tabLst>
            </a:pPr>
            <a:r>
              <a:rPr b="0" lang="zh-CN" sz="40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大学网站</a:t>
            </a:r>
            <a:endParaRPr b="0" lang="en-US" sz="4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61"/>
              </a:lnSpc>
              <a:spcAft>
                <a:spcPts val="1800"/>
              </a:spcAft>
              <a:tabLst>
                <a:tab algn="l" pos="0"/>
              </a:tabLst>
            </a:pPr>
            <a:r>
              <a:rPr b="0" lang="zh-CN" sz="40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编程毕业设计</a:t>
            </a:r>
            <a:endParaRPr b="0" lang="en-US" sz="4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71680" y="3238560"/>
            <a:ext cx="816084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940"/>
              </a:lnSpc>
              <a:tabLst>
                <a:tab algn="l" pos="0"/>
              </a:tabLst>
            </a:pPr>
            <a:r>
              <a:rPr b="0" lang="zh-CN" sz="2100" strike="noStrike" u="none">
                <a:solidFill>
                  <a:srgbClr val="b165fb"/>
                </a:solidFill>
                <a:effectLst/>
                <a:uFillTx/>
                <a:latin typeface="Arial"/>
                <a:ea typeface="Arial"/>
              </a:rPr>
              <a:t>基于</a:t>
            </a:r>
            <a:r>
              <a:rPr b="0" lang="en-US" sz="2100" strike="noStrike" u="none">
                <a:solidFill>
                  <a:srgbClr val="b165fb"/>
                </a:solidFill>
                <a:effectLst/>
                <a:uFillTx/>
                <a:latin typeface="Arial"/>
                <a:ea typeface="Arial"/>
              </a:rPr>
              <a:t>Web</a:t>
            </a:r>
            <a:r>
              <a:rPr b="0" lang="zh-CN" sz="2100" strike="noStrike" u="none">
                <a:solidFill>
                  <a:srgbClr val="b165fb"/>
                </a:solidFill>
                <a:effectLst/>
                <a:uFillTx/>
                <a:latin typeface="Arial"/>
                <a:ea typeface="Arial"/>
              </a:rPr>
              <a:t>技术的校园信息管理系统设计与实现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71680" y="4629240"/>
            <a:ext cx="8160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计算机科学与技术专业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| </a:t>
            </a:r>
            <a:r>
              <a:rPr b="0" lang="zh-CN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毕业设计答辩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0" y="0"/>
            <a:ext cx="75960" cy="5143320"/>
          </a:xfrm>
          <a:prstGeom prst="rect">
            <a:avLst/>
          </a:prstGeom>
          <a:solidFill>
            <a:srgbClr val="b16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380880" y="1128600"/>
            <a:ext cx="8381880" cy="360"/>
          </a:xfrm>
          <a:prstGeom prst="line">
            <a:avLst/>
          </a:prstGeom>
          <a:ln w="28575">
            <a:solidFill>
              <a:srgbClr val="b165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380880" y="380880"/>
            <a:ext cx="85492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1" lang="zh-CN" sz="2700" strike="noStrike" u="none">
                <a:solidFill>
                  <a:srgbClr val="181b24"/>
                </a:solidFill>
                <a:effectLst/>
                <a:uFillTx/>
                <a:latin typeface="Arial"/>
                <a:ea typeface="Arial"/>
              </a:rPr>
              <a:t>课题背景与意义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380880" y="1333440"/>
            <a:ext cx="8549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随着信息技术的快速发展，传统的高校信息管理方式已经无法满足现代化教育的需求。建设一个功能完善、操作便捷的校园网站系统具有重要意义。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380880" y="2034360"/>
            <a:ext cx="8549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本课题旨在设计并实现一个基于</a:t>
            </a:r>
            <a:r>
              <a:rPr b="0" lang="en-US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Web</a:t>
            </a: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技术的大学网站系统，整合校园信息资源，提升管理效率，为师生提供优质的服务体验。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380880" y="2773440"/>
            <a:ext cx="8381520" cy="578880"/>
          </a:xfrm>
          <a:prstGeom prst="roundRect">
            <a:avLst>
              <a:gd name="adj" fmla="val 13159"/>
            </a:avLst>
          </a:prstGeom>
          <a:solidFill>
            <a:srgbClr val="4069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6"/>
          <p:cNvSpPr/>
          <p:nvPr/>
        </p:nvSpPr>
        <p:spPr>
          <a:xfrm>
            <a:off x="571680" y="2926080"/>
            <a:ext cx="816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zh-CN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核心目标：</a:t>
            </a:r>
            <a:r>
              <a:rPr b="0" lang="zh-CN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构建一个集信息发布、资源共享、互动交流于一体的综合校园平台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0" y="0"/>
            <a:ext cx="75960" cy="5143320"/>
          </a:xfrm>
          <a:prstGeom prst="rect">
            <a:avLst/>
          </a:prstGeom>
          <a:solidFill>
            <a:srgbClr val="b16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380880" y="1128600"/>
            <a:ext cx="8381880" cy="360"/>
          </a:xfrm>
          <a:prstGeom prst="line">
            <a:avLst/>
          </a:prstGeom>
          <a:ln w="28575">
            <a:solidFill>
              <a:srgbClr val="b165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380880" y="380880"/>
            <a:ext cx="85492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1" lang="zh-CN" sz="2700" strike="noStrike" u="none">
                <a:solidFill>
                  <a:srgbClr val="181b24"/>
                </a:solidFill>
                <a:effectLst/>
                <a:uFillTx/>
                <a:latin typeface="Arial"/>
                <a:ea typeface="Arial"/>
              </a:rPr>
              <a:t>技术选型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380880" y="1333440"/>
            <a:ext cx="4128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65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前端技术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380880" y="171468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HTML5 + CSS3 + JavaScript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380880" y="194328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响应式布局框架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380880" y="217188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AJAX</a:t>
            </a: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异步通信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380880" y="2590920"/>
            <a:ext cx="4128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65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数据库设计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380880" y="297180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MySQL</a:t>
            </a: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关系型数据库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380880" y="320040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ER</a:t>
            </a: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图建模与规范化设计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380880" y="342900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索引优化与查询性能提升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4714920" y="1333440"/>
            <a:ext cx="4128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65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后端开发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4714920" y="171468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Java/Python/Node.js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4714920" y="194328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RESTful API</a:t>
            </a: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设计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4714920" y="217188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MVC</a:t>
            </a: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架构模式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4714920" y="2590920"/>
            <a:ext cx="4128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65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服务器部署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4714920" y="297180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Apache/Nginx Web</a:t>
            </a: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服务器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7"/>
          <p:cNvSpPr/>
          <p:nvPr/>
        </p:nvSpPr>
        <p:spPr>
          <a:xfrm>
            <a:off x="4714920" y="320040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Linux</a:t>
            </a: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系统环境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8"/>
          <p:cNvSpPr/>
          <p:nvPr/>
        </p:nvSpPr>
        <p:spPr>
          <a:xfrm>
            <a:off x="4714920" y="3429000"/>
            <a:ext cx="4128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域名与</a:t>
            </a:r>
            <a:r>
              <a:rPr b="0" lang="en-US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SSL</a:t>
            </a:r>
            <a:r>
              <a:rPr b="0" lang="zh-CN" sz="12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证书配置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0" y="0"/>
            <a:ext cx="75960" cy="5143320"/>
          </a:xfrm>
          <a:prstGeom prst="rect">
            <a:avLst/>
          </a:prstGeom>
          <a:solidFill>
            <a:srgbClr val="b16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380880" y="1128600"/>
            <a:ext cx="8381880" cy="360"/>
          </a:xfrm>
          <a:prstGeom prst="line">
            <a:avLst/>
          </a:prstGeom>
          <a:ln w="28575">
            <a:solidFill>
              <a:srgbClr val="b165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380880" y="380880"/>
            <a:ext cx="85492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1" lang="zh-CN" sz="2700" strike="noStrike" u="none">
                <a:solidFill>
                  <a:srgbClr val="181b24"/>
                </a:solidFill>
                <a:effectLst/>
                <a:uFillTx/>
                <a:latin typeface="Arial"/>
                <a:ea typeface="Arial"/>
              </a:rPr>
              <a:t>系统架构设计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80880" y="1333440"/>
            <a:ext cx="85492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19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本系统采用经典的三层架构设计模式，实现高内聚、低耦合的软件架构：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380880" y="1691640"/>
            <a:ext cx="8381520" cy="891000"/>
          </a:xfrm>
          <a:prstGeom prst="roundRect">
            <a:avLst>
              <a:gd name="adj" fmla="val 8548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 5"/>
          <p:cNvSpPr/>
          <p:nvPr/>
        </p:nvSpPr>
        <p:spPr>
          <a:xfrm>
            <a:off x="533520" y="1805760"/>
            <a:ext cx="8238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zh-CN" sz="1350" strike="noStrike" u="none">
                <a:solidFill>
                  <a:srgbClr val="b165fb"/>
                </a:solidFill>
                <a:effectLst/>
                <a:uFillTx/>
                <a:latin typeface="Arial"/>
                <a:ea typeface="Arial"/>
              </a:rPr>
              <a:t>表现层 </a:t>
            </a:r>
            <a:r>
              <a:rPr b="1" lang="en-US" sz="1350" strike="noStrike" u="none">
                <a:solidFill>
                  <a:srgbClr val="b165fb"/>
                </a:solidFill>
                <a:effectLst/>
                <a:uFillTx/>
                <a:latin typeface="Arial"/>
                <a:ea typeface="Arial"/>
              </a:rPr>
              <a:t>(Presentation Layer)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533520" y="2110680"/>
            <a:ext cx="82382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19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负责用户界面的展示与交互，采用响应式设计，支持多终端访问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380880" y="2697480"/>
            <a:ext cx="8381520" cy="891000"/>
          </a:xfrm>
          <a:prstGeom prst="roundRect">
            <a:avLst>
              <a:gd name="adj" fmla="val 8548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8"/>
          <p:cNvSpPr/>
          <p:nvPr/>
        </p:nvSpPr>
        <p:spPr>
          <a:xfrm>
            <a:off x="533520" y="2811600"/>
            <a:ext cx="8238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zh-CN" sz="1350" strike="noStrike" u="none">
                <a:solidFill>
                  <a:srgbClr val="b165fb"/>
                </a:solidFill>
                <a:effectLst/>
                <a:uFillTx/>
                <a:latin typeface="Arial"/>
                <a:ea typeface="Arial"/>
              </a:rPr>
              <a:t>业务逻辑层 </a:t>
            </a:r>
            <a:r>
              <a:rPr b="1" lang="en-US" sz="1350" strike="noStrike" u="none">
                <a:solidFill>
                  <a:srgbClr val="b165fb"/>
                </a:solidFill>
                <a:effectLst/>
                <a:uFillTx/>
                <a:latin typeface="Arial"/>
                <a:ea typeface="Arial"/>
              </a:rPr>
              <a:t>(Business Logic Layer)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533520" y="3116520"/>
            <a:ext cx="82382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19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处理核心业务逻辑，实现数据验证、权限控制、事务管理等功能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380880" y="3703320"/>
            <a:ext cx="8381520" cy="891000"/>
          </a:xfrm>
          <a:prstGeom prst="roundRect">
            <a:avLst>
              <a:gd name="adj" fmla="val 8548"/>
            </a:avLst>
          </a:prstGeom>
          <a:solidFill>
            <a:srgbClr val="f0f0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533520" y="3817440"/>
            <a:ext cx="8238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51"/>
              </a:spcAft>
              <a:tabLst>
                <a:tab algn="l" pos="0"/>
              </a:tabLst>
            </a:pPr>
            <a:r>
              <a:rPr b="1" lang="zh-CN" sz="1350" strike="noStrike" u="none">
                <a:solidFill>
                  <a:srgbClr val="b165fb"/>
                </a:solidFill>
                <a:effectLst/>
                <a:uFillTx/>
                <a:latin typeface="Arial"/>
                <a:ea typeface="Arial"/>
              </a:rPr>
              <a:t>数据访问层 </a:t>
            </a:r>
            <a:r>
              <a:rPr b="1" lang="en-US" sz="1350" strike="noStrike" u="none">
                <a:solidFill>
                  <a:srgbClr val="b165fb"/>
                </a:solidFill>
                <a:effectLst/>
                <a:uFillTx/>
                <a:latin typeface="Arial"/>
                <a:ea typeface="Arial"/>
              </a:rPr>
              <a:t>(Data Access Layer)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533520" y="4122360"/>
            <a:ext cx="82382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19"/>
              </a:lnSpc>
              <a:spcAft>
                <a:spcPts val="901"/>
              </a:spcAft>
              <a:tabLst>
                <a:tab algn="l" pos="0"/>
              </a:tabLst>
            </a:pP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封装数据库操作，提供统一的接口，实现数据的持久化存储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0" y="0"/>
            <a:ext cx="75960" cy="5143320"/>
          </a:xfrm>
          <a:prstGeom prst="rect">
            <a:avLst/>
          </a:prstGeom>
          <a:solidFill>
            <a:srgbClr val="b16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380880" y="1128600"/>
            <a:ext cx="8381880" cy="360"/>
          </a:xfrm>
          <a:prstGeom prst="line">
            <a:avLst/>
          </a:prstGeom>
          <a:ln w="28575">
            <a:solidFill>
              <a:srgbClr val="b165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380880" y="380880"/>
            <a:ext cx="85492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1" lang="zh-CN" sz="2700" strike="noStrike" u="none">
                <a:solidFill>
                  <a:srgbClr val="181b24"/>
                </a:solidFill>
                <a:effectLst/>
                <a:uFillTx/>
                <a:latin typeface="Arial"/>
                <a:ea typeface="Arial"/>
              </a:rPr>
              <a:t>功能模块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380880" y="1333440"/>
            <a:ext cx="838152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701"/>
              </a:lnSpc>
              <a:buClr>
                <a:srgbClr val="333333"/>
              </a:buClr>
              <a:buFont typeface="Symbol" charset="2"/>
              <a:buChar char=""/>
            </a:pP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用户管理模块 </a:t>
            </a:r>
            <a:r>
              <a:rPr b="0" lang="en-US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实现学生、教师、管理员的注册登录与权限管理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701"/>
              </a:lnSpc>
              <a:buClr>
                <a:srgbClr val="333333"/>
              </a:buClr>
              <a:buFont typeface="Symbol" charset="2"/>
              <a:buChar char=""/>
            </a:pP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新闻公告模块 </a:t>
            </a:r>
            <a:r>
              <a:rPr b="0" lang="en-US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支持发布、编辑、删除校园新闻与通知公告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701"/>
              </a:lnSpc>
              <a:buClr>
                <a:srgbClr val="333333"/>
              </a:buClr>
              <a:buFont typeface="Symbol" charset="2"/>
              <a:buChar char=""/>
            </a:pP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课程管理模块 </a:t>
            </a:r>
            <a:r>
              <a:rPr b="0" lang="en-US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提供课程信息查询、选课、课表展示等功能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701"/>
              </a:lnSpc>
              <a:buClr>
                <a:srgbClr val="333333"/>
              </a:buClr>
              <a:buFont typeface="Symbol" charset="2"/>
              <a:buChar char=""/>
            </a:pP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资源共享模块 </a:t>
            </a:r>
            <a:r>
              <a:rPr b="0" lang="en-US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实现教学资料的上传、下载与分类管理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701"/>
              </a:lnSpc>
              <a:buClr>
                <a:srgbClr val="333333"/>
              </a:buClr>
              <a:buFont typeface="Symbol" charset="2"/>
              <a:buChar char=""/>
            </a:pP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在线交流模块 </a:t>
            </a:r>
            <a:r>
              <a:rPr b="0" lang="en-US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支持论坛讨论、留言板、师生互动等社交功能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701"/>
              </a:lnSpc>
              <a:buClr>
                <a:srgbClr val="333333"/>
              </a:buClr>
              <a:buFont typeface="Symbol" charset="2"/>
              <a:buChar char=""/>
            </a:pP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系统设置模块 </a:t>
            </a:r>
            <a:r>
              <a:rPr b="0" lang="en-US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35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提供网站配置、数据备份、日志管理等后台功能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0" y="0"/>
            <a:ext cx="75960" cy="5143320"/>
          </a:xfrm>
          <a:prstGeom prst="rect">
            <a:avLst/>
          </a:prstGeom>
          <a:solidFill>
            <a:srgbClr val="b16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380880" y="1128600"/>
            <a:ext cx="8381880" cy="360"/>
          </a:xfrm>
          <a:prstGeom prst="line">
            <a:avLst/>
          </a:prstGeom>
          <a:ln w="28575">
            <a:solidFill>
              <a:srgbClr val="b165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380880" y="380880"/>
            <a:ext cx="85492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1" lang="zh-CN" sz="2700" strike="noStrike" u="none">
                <a:solidFill>
                  <a:srgbClr val="181b24"/>
                </a:solidFill>
                <a:effectLst/>
                <a:uFillTx/>
                <a:latin typeface="Arial"/>
                <a:ea typeface="Arial"/>
              </a:rPr>
              <a:t>关键技术实现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380880" y="1333440"/>
            <a:ext cx="4128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数据库连接池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380880" y="1704960"/>
            <a:ext cx="41288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zh-CN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使用连接池技术优化数据库访问性能，减少连接创建开销，提升系统并发处理能力。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80880" y="2324160"/>
            <a:ext cx="4128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分页查询技术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380880" y="2695680"/>
            <a:ext cx="41288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zh-CN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实现数据分页加载，避免大量数据一次性加载导致的性能问题，提升用户体验。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380880" y="3314880"/>
            <a:ext cx="4128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图片上传与处理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380880" y="3686040"/>
            <a:ext cx="41288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zh-CN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支持图片格式验证、大小限制、缩略图生成等功能，优化存储空间与加载速度。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4714920" y="1333440"/>
            <a:ext cx="4128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用户认证与授权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4714920" y="1704960"/>
            <a:ext cx="41288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zh-CN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采用</a:t>
            </a:r>
            <a:r>
              <a:rPr b="0" lang="en-US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Session/Cookie</a:t>
            </a:r>
            <a:r>
              <a:rPr b="0" lang="zh-CN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机制实现用户登录状态管理，结合</a:t>
            </a:r>
            <a:r>
              <a:rPr b="0" lang="en-US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RBAC</a:t>
            </a:r>
            <a:r>
              <a:rPr b="0" lang="zh-CN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模型进行权限控制。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4714920" y="2324160"/>
            <a:ext cx="4128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全文搜索功能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4714920" y="2695680"/>
            <a:ext cx="41288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zh-CN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集成搜索引擎实现资源快速检索，支持关键词高亮显示与结果排序。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4714920" y="3314880"/>
            <a:ext cx="4128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系统日志记录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4714920" y="3686040"/>
            <a:ext cx="4128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7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zh-CN" sz="113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记录用户操作日志与系统异常日志，便于问题追踪与系统维护。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0" y="0"/>
            <a:ext cx="75960" cy="5143320"/>
          </a:xfrm>
          <a:prstGeom prst="rect">
            <a:avLst/>
          </a:prstGeom>
          <a:solidFill>
            <a:srgbClr val="b16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380880" y="1128600"/>
            <a:ext cx="8381880" cy="360"/>
          </a:xfrm>
          <a:prstGeom prst="line">
            <a:avLst/>
          </a:prstGeom>
          <a:ln w="28575">
            <a:solidFill>
              <a:srgbClr val="b165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380880" y="380880"/>
            <a:ext cx="85492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6001"/>
              </a:lnSpc>
              <a:tabLst>
                <a:tab algn="l" pos="0"/>
              </a:tabLst>
            </a:pPr>
            <a:r>
              <a:rPr b="1" lang="zh-CN" sz="2700" strike="noStrike" u="none">
                <a:solidFill>
                  <a:srgbClr val="181b24"/>
                </a:solidFill>
                <a:effectLst/>
                <a:uFillTx/>
                <a:latin typeface="Arial"/>
                <a:ea typeface="Arial"/>
              </a:rPr>
              <a:t>总结与展望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380880" y="1333440"/>
            <a:ext cx="8549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zh-CN" sz="165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项目总结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380880" y="1733400"/>
            <a:ext cx="85492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本项目成功实现了大学网站的核心功能，系统运行稳定，用户界面友好，满足了校园信息化管理的基本需求。在开发过程中，深入学习了</a:t>
            </a:r>
            <a:r>
              <a:rPr b="0" lang="en-US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Web</a:t>
            </a: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开发技术，提升了问题解决能力。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380880" y="2411640"/>
            <a:ext cx="8549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51"/>
              </a:spcAft>
              <a:tabLst>
                <a:tab algn="l" pos="0"/>
              </a:tabLst>
            </a:pPr>
            <a:r>
              <a:rPr b="1" lang="zh-CN" sz="1650" strike="noStrike" u="none">
                <a:solidFill>
                  <a:srgbClr val="40695b"/>
                </a:solidFill>
                <a:effectLst/>
                <a:uFillTx/>
                <a:latin typeface="Arial"/>
                <a:ea typeface="Arial"/>
              </a:rPr>
              <a:t>未来展望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380880" y="2811600"/>
            <a:ext cx="85492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19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进一步优化系统性能，引入更多智能化功能，如智能推荐、数据分析等。同时考虑移动端应用开发，为用户提供更便捷的服务体验。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380880" y="3489840"/>
            <a:ext cx="8381520" cy="552240"/>
          </a:xfrm>
          <a:prstGeom prst="roundRect">
            <a:avLst>
              <a:gd name="adj" fmla="val 13793"/>
            </a:avLst>
          </a:prstGeom>
          <a:solidFill>
            <a:srgbClr val="b16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8"/>
          <p:cNvSpPr/>
          <p:nvPr/>
        </p:nvSpPr>
        <p:spPr>
          <a:xfrm>
            <a:off x="571680" y="3642120"/>
            <a:ext cx="81608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感谢各位老师的指导与支持！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LibreOffice/25.8.3.2$MacOSX_AARCH64 LibreOffice_project/8ca8d55c161d602844f5428fa4b58097424e324e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2025-12-28T06:43:10Z</dcterms:created>
  <dc:creator>Graduation Project</dc:creator>
  <dc:description/>
  <dc:language>zh-CN</dc:language>
  <cp:lastModifiedBy>Graduation Project</cp:lastModifiedBy>
  <dcterms:modified xsi:type="dcterms:W3CDTF">2025-12-28T06:43:10Z</dcterms:modified>
  <cp:revision>1</cp:revision>
  <dc:subject>PptxGenJS Presentation</dc:subject>
  <dc:title>大学网站编程毕业设计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</vt:r8>
  </property>
  <property fmtid="{D5CDD505-2E9C-101B-9397-08002B2CF9AE}" pid="3" name="PresentationFormat">
    <vt:lpwstr>On-screen Show (16:9)</vt:lpwstr>
  </property>
  <property fmtid="{D5CDD505-2E9C-101B-9397-08002B2CF9AE}" pid="4" name="Slides">
    <vt:r8>7</vt:r8>
  </property>
</Properties>
</file>